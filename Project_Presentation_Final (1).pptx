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68" r:id="rId1"/>
  </p:sldMasterIdLst>
  <p:sldIdLst>
    <p:sldId id="256" r:id="rId2"/>
    <p:sldId id="257" r:id="rId3"/>
    <p:sldId id="258" r:id="rId4"/>
    <p:sldId id="259" r:id="rId5"/>
    <p:sldId id="260" r:id="rId6"/>
    <p:sldId id="261" r:id="rId7"/>
    <p:sldId id="262" r:id="rId8"/>
    <p:sldId id="268" r:id="rId9"/>
    <p:sldId id="269" r:id="rId10"/>
    <p:sldId id="263" r:id="rId11"/>
    <p:sldId id="271" r:id="rId12"/>
    <p:sldId id="272" r:id="rId13"/>
    <p:sldId id="273" r:id="rId14"/>
    <p:sldId id="266" r:id="rId15"/>
    <p:sldId id="270" r:id="rId16"/>
    <p:sldId id="267" r:id="rId17"/>
  </p:sldIdLst>
  <p:sldSz cx="18288000" cy="10287000"/>
  <p:notesSz cx="6858000" cy="9144000"/>
  <p:embeddedFontLst>
    <p:embeddedFont>
      <p:font typeface="Candal" panose="020B0604020202020204" charset="0"/>
      <p:regular r:id="rId18"/>
    </p:embeddedFont>
    <p:embeddedFont>
      <p:font typeface="Garamond" panose="02020404030301010803" pitchFamily="18" charset="0"/>
      <p:regular r:id="rId19"/>
      <p:bold r:id="rId20"/>
      <p:italic r:id="rId21"/>
    </p:embeddedFont>
    <p:embeddedFont>
      <p:font typeface="Glacial Indifference" panose="020B0604020202020204" charset="0"/>
      <p:regular r:id="rId22"/>
    </p:embeddedFont>
    <p:embeddedFont>
      <p:font typeface="Glacial Indifference Bold" panose="020B0604020202020204" charset="0"/>
      <p:regular r:id="rId23"/>
    </p:embeddedFont>
    <p:embeddedFont>
      <p:font typeface="Source Sans Pro SemiBold" panose="020B0603030403020204" pitchFamily="34" charset="0"/>
      <p:bold r:id="rId24"/>
      <p:boldItalic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8283238" cy="10284321"/>
          </a:xfrm>
          <a:prstGeom prst="rect">
            <a:avLst/>
          </a:prstGeom>
        </p:spPr>
      </p:pic>
      <p:sp>
        <p:nvSpPr>
          <p:cNvPr id="2" name="Title 1"/>
          <p:cNvSpPr>
            <a:spLocks noGrp="1"/>
          </p:cNvSpPr>
          <p:nvPr>
            <p:ph type="ctrTitle"/>
          </p:nvPr>
        </p:nvSpPr>
        <p:spPr>
          <a:xfrm>
            <a:off x="4038598" y="2806697"/>
            <a:ext cx="10223504" cy="2273300"/>
          </a:xfrm>
        </p:spPr>
        <p:txBody>
          <a:bodyPr anchor="b">
            <a:noAutofit/>
          </a:bodyPr>
          <a:lstStyle>
            <a:lvl1pPr algn="ctr">
              <a:defRPr sz="8100">
                <a:effectLst/>
              </a:defRPr>
            </a:lvl1pPr>
          </a:lstStyle>
          <a:p>
            <a:r>
              <a:rPr lang="en-US"/>
              <a:t>Click to edit Master title style</a:t>
            </a:r>
            <a:endParaRPr lang="en-US" dirty="0"/>
          </a:p>
        </p:txBody>
      </p:sp>
      <p:sp>
        <p:nvSpPr>
          <p:cNvPr id="3" name="Subtitle 2"/>
          <p:cNvSpPr>
            <a:spLocks noGrp="1"/>
          </p:cNvSpPr>
          <p:nvPr>
            <p:ph type="subTitle" idx="1"/>
          </p:nvPr>
        </p:nvSpPr>
        <p:spPr>
          <a:xfrm>
            <a:off x="4038598" y="5486396"/>
            <a:ext cx="10223504" cy="1981203"/>
          </a:xfrm>
        </p:spPr>
        <p:txBody>
          <a:bodyPr anchor="t">
            <a:normAutofit/>
          </a:bodyPr>
          <a:lstStyle>
            <a:lvl1pPr marL="0" indent="0" algn="ctr">
              <a:buNone/>
              <a:defRPr sz="3150">
                <a:solidFill>
                  <a:schemeClr val="tx1"/>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11974849" y="7556495"/>
            <a:ext cx="1346201" cy="419100"/>
          </a:xfrm>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a:xfrm>
            <a:off x="4038596" y="7556495"/>
            <a:ext cx="7821953" cy="419100"/>
          </a:xfrm>
        </p:spPr>
        <p:txBody>
          <a:bodyPr/>
          <a:lstStyle/>
          <a:p>
            <a:endParaRPr lang="en-US"/>
          </a:p>
        </p:txBody>
      </p:sp>
      <p:sp>
        <p:nvSpPr>
          <p:cNvPr id="6" name="Slide Number Placeholder 5"/>
          <p:cNvSpPr>
            <a:spLocks noGrp="1"/>
          </p:cNvSpPr>
          <p:nvPr>
            <p:ph type="sldNum" sz="quarter" idx="12"/>
          </p:nvPr>
        </p:nvSpPr>
        <p:spPr>
          <a:xfrm>
            <a:off x="13435351" y="7556495"/>
            <a:ext cx="826751" cy="419100"/>
          </a:xfrm>
        </p:spPr>
        <p:txBody>
          <a:bodyPr/>
          <a:lstStyle/>
          <a:p>
            <a:fld id="{B6F15528-21DE-4FAA-801E-634DDDAF4B2B}" type="slidenum">
              <a:rPr lang="en-US" smtClean="0"/>
              <a:pPr/>
              <a:t>‹#›</a:t>
            </a:fld>
            <a:endParaRPr lang="en-US"/>
          </a:p>
        </p:txBody>
      </p:sp>
      <p:cxnSp>
        <p:nvCxnSpPr>
          <p:cNvPr id="15" name="Straight Connector 14"/>
          <p:cNvCxnSpPr/>
          <p:nvPr/>
        </p:nvCxnSpPr>
        <p:spPr>
          <a:xfrm>
            <a:off x="4038599" y="5283197"/>
            <a:ext cx="10223502"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1165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2094254" y="3632199"/>
            <a:ext cx="14110947"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11759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22604" y="2628909"/>
            <a:ext cx="12238032" cy="2733771"/>
          </a:xfrm>
        </p:spPr>
        <p:txBody>
          <a:bodyPr anchor="b">
            <a:normAutofit/>
          </a:bodyPr>
          <a:lstStyle>
            <a:lvl1pPr algn="ctr">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3022601" y="5769077"/>
            <a:ext cx="12238035" cy="1431821"/>
          </a:xfrm>
        </p:spPr>
        <p:txBody>
          <a:bodyPr anchor="t">
            <a:normAutofit/>
          </a:bodyPr>
          <a:lstStyle>
            <a:lvl1pPr marL="0" indent="0" algn="ctr">
              <a:buNone/>
              <a:defRPr sz="36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6" name="Straight Connector 15"/>
          <p:cNvCxnSpPr/>
          <p:nvPr/>
        </p:nvCxnSpPr>
        <p:spPr>
          <a:xfrm>
            <a:off x="3019085" y="5565878"/>
            <a:ext cx="1224507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596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2094254" y="3632199"/>
            <a:ext cx="14110947"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7672" y="3840480"/>
            <a:ext cx="7077456" cy="496519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72016" y="3840480"/>
            <a:ext cx="7077456" cy="496519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92651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943100" y="3987800"/>
            <a:ext cx="7077456" cy="864393"/>
          </a:xfrm>
        </p:spPr>
        <p:txBody>
          <a:bodyPr anchor="b">
            <a:noAutofit/>
          </a:bodyPr>
          <a:lstStyle>
            <a:lvl1pPr marL="0" indent="0">
              <a:buNone/>
              <a:defRPr sz="42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943100" y="4864894"/>
            <a:ext cx="7077456" cy="394890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71007" y="3987800"/>
            <a:ext cx="7077456" cy="864393"/>
          </a:xfrm>
        </p:spPr>
        <p:txBody>
          <a:bodyPr anchor="b">
            <a:noAutofit/>
          </a:bodyPr>
          <a:lstStyle>
            <a:lvl1pPr marL="0" indent="0">
              <a:buNone/>
              <a:defRPr sz="42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71007" y="4864894"/>
            <a:ext cx="7077456" cy="394890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8" name="Straight Connector 17"/>
          <p:cNvCxnSpPr/>
          <p:nvPr/>
        </p:nvCxnSpPr>
        <p:spPr>
          <a:xfrm>
            <a:off x="2094254" y="3632199"/>
            <a:ext cx="14110947"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7081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2094254" y="3632199"/>
            <a:ext cx="14110947"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4340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1/26/2026</a:t>
            </a:fld>
            <a:endParaRPr lang="en-US"/>
          </a:p>
        </p:txBody>
      </p:sp>
      <p:sp>
        <p:nvSpPr>
          <p:cNvPr id="3" name="Footer Placeholder 2"/>
          <p:cNvSpPr>
            <a:spLocks noGrp="1"/>
          </p:cNvSpPr>
          <p:nvPr>
            <p:ph type="ftr" sz="quarter" idx="11"/>
          </p:nvPr>
        </p:nvSpPr>
        <p:spPr/>
        <p:txBody>
          <a:bodyPr/>
          <a:lstStyle/>
          <a:p>
            <a:endParaRPr lang="en-IN" b="1" i="1"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TextBox 5">
            <a:extLst>
              <a:ext uri="{FF2B5EF4-FFF2-40B4-BE49-F238E27FC236}">
                <a16:creationId xmlns:a16="http://schemas.microsoft.com/office/drawing/2014/main" id="{C3731578-7406-0D93-C014-8420BE9BBB92}"/>
              </a:ext>
            </a:extLst>
          </p:cNvPr>
          <p:cNvSpPr txBox="1"/>
          <p:nvPr userDrawn="1"/>
        </p:nvSpPr>
        <p:spPr>
          <a:xfrm>
            <a:off x="9906000" y="9715500"/>
            <a:ext cx="9144000" cy="369332"/>
          </a:xfrm>
          <a:prstGeom prst="rect">
            <a:avLst/>
          </a:prstGeom>
          <a:noFill/>
        </p:spPr>
        <p:txBody>
          <a:bodyPr wrap="square">
            <a:spAutoFit/>
          </a:bodyPr>
          <a:lstStyle/>
          <a:p>
            <a:r>
              <a:rPr lang="en-US" b="1" i="1" dirty="0"/>
              <a:t>Department of Computer Technology, MIT Campus, Anna University, Chennai</a:t>
            </a:r>
            <a:endParaRPr lang="en-IN" b="1" i="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40656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0717" y="2082801"/>
            <a:ext cx="5577683" cy="2057400"/>
          </a:xfrm>
        </p:spPr>
        <p:txBody>
          <a:bodyPr anchor="b">
            <a:normAutofit/>
          </a:bodyPr>
          <a:lstStyle>
            <a:lvl1pPr algn="ctr">
              <a:defRPr sz="3600" b="0"/>
            </a:lvl1pPr>
          </a:lstStyle>
          <a:p>
            <a:r>
              <a:rPr lang="en-US"/>
              <a:t>Click to edit Master title style</a:t>
            </a:r>
            <a:endParaRPr lang="en-US" dirty="0"/>
          </a:p>
        </p:txBody>
      </p:sp>
      <p:sp>
        <p:nvSpPr>
          <p:cNvPr id="3" name="Content Placeholder 2"/>
          <p:cNvSpPr>
            <a:spLocks noGrp="1"/>
          </p:cNvSpPr>
          <p:nvPr>
            <p:ph idx="1"/>
          </p:nvPr>
        </p:nvSpPr>
        <p:spPr>
          <a:xfrm>
            <a:off x="8128002" y="1473197"/>
            <a:ext cx="8204199" cy="734060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0717" y="4546598"/>
            <a:ext cx="5577683" cy="3657606"/>
          </a:xfrm>
        </p:spPr>
        <p:txBody>
          <a:bodyPr anchor="t">
            <a:normAutofit/>
          </a:bodyPr>
          <a:lstStyle>
            <a:lvl1pPr marL="0" indent="0" algn="ctr">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16" name="Straight Connector 15"/>
          <p:cNvCxnSpPr/>
          <p:nvPr/>
        </p:nvCxnSpPr>
        <p:spPr>
          <a:xfrm>
            <a:off x="2094254" y="4368800"/>
            <a:ext cx="5271747"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8523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3099" y="2825748"/>
            <a:ext cx="9362724" cy="2057400"/>
          </a:xfrm>
        </p:spPr>
        <p:txBody>
          <a:bodyPr anchor="b">
            <a:normAutofit/>
          </a:bodyPr>
          <a:lstStyle>
            <a:lvl1pPr algn="ctr">
              <a:defRPr sz="42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12142247" y="1562100"/>
            <a:ext cx="4595021" cy="71628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943099" y="4883148"/>
            <a:ext cx="9362724" cy="2743200"/>
          </a:xfrm>
        </p:spPr>
        <p:txBody>
          <a:bodyPr anchor="t">
            <a:normAutofit/>
          </a:bodyPr>
          <a:lstStyle>
            <a:lvl1pPr marL="0" indent="0" algn="ctr">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3683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3102" y="7223122"/>
            <a:ext cx="14414499" cy="850107"/>
          </a:xfrm>
        </p:spPr>
        <p:txBody>
          <a:bodyPr anchor="b">
            <a:normAutofit/>
          </a:bodyPr>
          <a:lstStyle>
            <a:lvl1pPr algn="ctr">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62141" y="1562099"/>
            <a:ext cx="15158958" cy="5003804"/>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943102" y="8073230"/>
            <a:ext cx="14414499" cy="740568"/>
          </a:xfrm>
        </p:spPr>
        <p:txBody>
          <a:bodyPr>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83968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55802" y="1473198"/>
            <a:ext cx="14389098" cy="4432302"/>
          </a:xfrm>
        </p:spPr>
        <p:txBody>
          <a:bodyPr anchor="ctr">
            <a:normAutofit/>
          </a:bodyPr>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55802" y="6515099"/>
            <a:ext cx="14389098" cy="2298701"/>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2094254" y="6210299"/>
            <a:ext cx="14110947"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0463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9320" y="1473198"/>
            <a:ext cx="13944597" cy="3556002"/>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512218" y="5029200"/>
            <a:ext cx="13258803" cy="876300"/>
          </a:xfrm>
        </p:spPr>
        <p:txBody>
          <a:bodyPr anchor="ctr">
            <a:normAutofit/>
          </a:bodyPr>
          <a:lstStyle>
            <a:lvl1pPr marL="0" indent="0" algn="r">
              <a:buFontTx/>
              <a:buNone/>
              <a:defRPr sz="3000"/>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3102" y="6515099"/>
            <a:ext cx="14414499" cy="2298701"/>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4" name="TextBox 13"/>
          <p:cNvSpPr txBox="1"/>
          <p:nvPr/>
        </p:nvSpPr>
        <p:spPr>
          <a:xfrm>
            <a:off x="1293020" y="1319942"/>
            <a:ext cx="914400" cy="877164"/>
          </a:xfrm>
          <a:prstGeom prst="rect">
            <a:avLst/>
          </a:prstGeom>
        </p:spPr>
        <p:txBody>
          <a:bodyPr vert="horz" lIns="137160" tIns="68580" rIns="137160" bIns="68580" rtlCol="0" anchor="ctr">
            <a:noAutofit/>
          </a:bodyPr>
          <a:lstStyle/>
          <a:p>
            <a:pPr lvl="0"/>
            <a:r>
              <a:rPr lang="en-US" sz="12000" dirty="0">
                <a:solidFill>
                  <a:schemeClr val="tx1"/>
                </a:solidFill>
                <a:effectLst/>
              </a:rPr>
              <a:t>“</a:t>
            </a:r>
          </a:p>
        </p:txBody>
      </p:sp>
      <p:sp>
        <p:nvSpPr>
          <p:cNvPr id="15" name="TextBox 14"/>
          <p:cNvSpPr txBox="1"/>
          <p:nvPr/>
        </p:nvSpPr>
        <p:spPr>
          <a:xfrm>
            <a:off x="15900401" y="4241805"/>
            <a:ext cx="914400" cy="877164"/>
          </a:xfrm>
          <a:prstGeom prst="rect">
            <a:avLst/>
          </a:prstGeom>
        </p:spPr>
        <p:txBody>
          <a:bodyPr vert="horz" lIns="137160" tIns="68580" rIns="137160" bIns="68580" rtlCol="0" anchor="ctr">
            <a:noAutofit/>
          </a:bodyPr>
          <a:lstStyle/>
          <a:p>
            <a:pPr lvl="0" algn="r"/>
            <a:r>
              <a:rPr lang="en-US" sz="12000" dirty="0">
                <a:solidFill>
                  <a:schemeClr val="tx1"/>
                </a:solidFill>
                <a:effectLst/>
              </a:rPr>
              <a:t>”</a:t>
            </a:r>
          </a:p>
        </p:txBody>
      </p:sp>
      <p:cxnSp>
        <p:nvCxnSpPr>
          <p:cNvPr id="19" name="Straight Connector 18"/>
          <p:cNvCxnSpPr/>
          <p:nvPr/>
        </p:nvCxnSpPr>
        <p:spPr>
          <a:xfrm>
            <a:off x="2094254" y="6210299"/>
            <a:ext cx="14110947"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81335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3103" y="4962872"/>
            <a:ext cx="14414502" cy="2203200"/>
          </a:xfrm>
        </p:spPr>
        <p:txBody>
          <a:bodyPr anchor="b">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3102" y="7166072"/>
            <a:ext cx="14414502" cy="1290600"/>
          </a:xfrm>
        </p:spPr>
        <p:txBody>
          <a:bodyPr anchor="t">
            <a:normAutofit/>
          </a:bodyPr>
          <a:lstStyle>
            <a:lvl1pPr marL="0" indent="0" algn="l">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21507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2169320" y="1473198"/>
            <a:ext cx="13944597" cy="3365502"/>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943102" y="5458968"/>
            <a:ext cx="14414502" cy="1330452"/>
          </a:xfrm>
        </p:spPr>
        <p:txBody>
          <a:bodyPr anchor="b">
            <a:normAutofit/>
          </a:bodyPr>
          <a:lstStyle>
            <a:lvl1pPr marL="0" indent="0" algn="l">
              <a:spcBef>
                <a:spcPts val="0"/>
              </a:spcBef>
              <a:buNone/>
              <a:defRPr sz="36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943102" y="6794500"/>
            <a:ext cx="14414502" cy="2019300"/>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2" name="TextBox 11"/>
          <p:cNvSpPr txBox="1"/>
          <p:nvPr/>
        </p:nvSpPr>
        <p:spPr>
          <a:xfrm>
            <a:off x="1293020" y="1319942"/>
            <a:ext cx="914400" cy="877164"/>
          </a:xfrm>
          <a:prstGeom prst="rect">
            <a:avLst/>
          </a:prstGeom>
        </p:spPr>
        <p:txBody>
          <a:bodyPr vert="horz" lIns="137160" tIns="68580" rIns="137160" bIns="68580" rtlCol="0" anchor="ctr">
            <a:noAutofit/>
          </a:bodyPr>
          <a:lstStyle/>
          <a:p>
            <a:pPr lvl="0"/>
            <a:r>
              <a:rPr lang="en-US" sz="12000" dirty="0">
                <a:solidFill>
                  <a:schemeClr val="tx1"/>
                </a:solidFill>
                <a:effectLst/>
              </a:rPr>
              <a:t>“</a:t>
            </a:r>
          </a:p>
        </p:txBody>
      </p:sp>
      <p:sp>
        <p:nvSpPr>
          <p:cNvPr id="13" name="TextBox 12"/>
          <p:cNvSpPr txBox="1"/>
          <p:nvPr/>
        </p:nvSpPr>
        <p:spPr>
          <a:xfrm>
            <a:off x="15900401" y="3898892"/>
            <a:ext cx="914400" cy="877164"/>
          </a:xfrm>
          <a:prstGeom prst="rect">
            <a:avLst/>
          </a:prstGeom>
        </p:spPr>
        <p:txBody>
          <a:bodyPr vert="horz" lIns="137160" tIns="68580" rIns="137160" bIns="68580" rtlCol="0" anchor="ctr">
            <a:noAutofit/>
          </a:bodyPr>
          <a:lstStyle/>
          <a:p>
            <a:pPr lvl="0" algn="r"/>
            <a:r>
              <a:rPr lang="en-US" sz="12000" dirty="0">
                <a:solidFill>
                  <a:schemeClr val="tx1"/>
                </a:solidFill>
                <a:effectLst/>
              </a:rPr>
              <a:t>”</a:t>
            </a:r>
          </a:p>
        </p:txBody>
      </p:sp>
      <p:cxnSp>
        <p:nvCxnSpPr>
          <p:cNvPr id="26" name="Straight Connector 25"/>
          <p:cNvCxnSpPr/>
          <p:nvPr/>
        </p:nvCxnSpPr>
        <p:spPr>
          <a:xfrm>
            <a:off x="2094254" y="5143500"/>
            <a:ext cx="14110947"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2656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3102" y="1473198"/>
            <a:ext cx="14414499" cy="3365502"/>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943102" y="5445252"/>
            <a:ext cx="14414502" cy="1261872"/>
          </a:xfrm>
        </p:spPr>
        <p:txBody>
          <a:bodyPr anchor="b">
            <a:normAutofit/>
          </a:bodyPr>
          <a:lstStyle>
            <a:lvl1pPr marL="0" indent="0" algn="l">
              <a:spcBef>
                <a:spcPts val="0"/>
              </a:spcBef>
              <a:buNone/>
              <a:defRPr sz="42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943100" y="6705599"/>
            <a:ext cx="14414505" cy="2108201"/>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2094254" y="5143500"/>
            <a:ext cx="14110947"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6848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2094254" y="3632199"/>
            <a:ext cx="14110947"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8790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499035" y="1473197"/>
            <a:ext cx="2836343" cy="734060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43098" y="1473198"/>
            <a:ext cx="11149538" cy="7340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13295835" y="1485900"/>
            <a:ext cx="0" cy="73152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8060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 y="0"/>
            <a:ext cx="18283238" cy="10284321"/>
          </a:xfrm>
          <a:prstGeom prst="rect">
            <a:avLst/>
          </a:prstGeom>
        </p:spPr>
      </p:pic>
      <p:sp>
        <p:nvSpPr>
          <p:cNvPr id="2" name="Title Placeholder 1"/>
          <p:cNvSpPr>
            <a:spLocks noGrp="1"/>
          </p:cNvSpPr>
          <p:nvPr>
            <p:ph type="title"/>
          </p:nvPr>
        </p:nvSpPr>
        <p:spPr>
          <a:xfrm>
            <a:off x="1943103" y="1473199"/>
            <a:ext cx="14401794" cy="1955801"/>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3102" y="3835398"/>
            <a:ext cx="14401794" cy="4978404"/>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016252" y="8953500"/>
            <a:ext cx="2400300" cy="419100"/>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1D8BD707-D9CF-40AE-B4C6-C98DA3205C09}" type="datetimeFigureOut">
              <a:rPr lang="en-US" smtClean="0"/>
              <a:pPr/>
              <a:t>1/26/2026</a:t>
            </a:fld>
            <a:endParaRPr lang="en-US"/>
          </a:p>
        </p:txBody>
      </p:sp>
      <p:sp>
        <p:nvSpPr>
          <p:cNvPr id="5" name="Footer Placeholder 4"/>
          <p:cNvSpPr>
            <a:spLocks noGrp="1"/>
          </p:cNvSpPr>
          <p:nvPr>
            <p:ph type="ftr" sz="quarter" idx="3"/>
          </p:nvPr>
        </p:nvSpPr>
        <p:spPr>
          <a:xfrm>
            <a:off x="1943102" y="8953500"/>
            <a:ext cx="10958850" cy="419100"/>
          </a:xfrm>
          <a:prstGeom prst="rect">
            <a:avLst/>
          </a:prstGeom>
        </p:spPr>
        <p:txBody>
          <a:bodyPr vert="horz" lIns="91440" tIns="45720" rIns="91440" bIns="45720" rtlCol="0" anchor="ctr"/>
          <a:lstStyle>
            <a:lvl1pPr algn="l">
              <a:defRPr sz="15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5530852" y="8953500"/>
            <a:ext cx="814046" cy="419100"/>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B6F15528-21DE-4FAA-801E-634DDDAF4B2B}" type="slidenum">
              <a:rPr lang="en-US" smtClean="0"/>
              <a:pPr/>
              <a:t>‹#›</a:t>
            </a:fld>
            <a:endParaRPr lang="en-US"/>
          </a:p>
        </p:txBody>
      </p:sp>
      <p:pic>
        <p:nvPicPr>
          <p:cNvPr id="9" name="Picture 8">
            <a:extLst>
              <a:ext uri="{FF2B5EF4-FFF2-40B4-BE49-F238E27FC236}">
                <a16:creationId xmlns:a16="http://schemas.microsoft.com/office/drawing/2014/main" id="{AA1B4845-8D10-4157-82B5-1DAE69B842E8}"/>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5435886" y="0"/>
            <a:ext cx="2655640" cy="2655640"/>
          </a:xfrm>
          <a:prstGeom prst="rect">
            <a:avLst/>
          </a:prstGeom>
        </p:spPr>
      </p:pic>
      <p:pic>
        <p:nvPicPr>
          <p:cNvPr id="11" name="Picture 10">
            <a:extLst>
              <a:ext uri="{FF2B5EF4-FFF2-40B4-BE49-F238E27FC236}">
                <a16:creationId xmlns:a16="http://schemas.microsoft.com/office/drawing/2014/main" id="{6F682721-8189-F0B3-9F70-F4257EDE67E5}"/>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0" y="221690"/>
            <a:ext cx="2036342" cy="2036342"/>
          </a:xfrm>
          <a:prstGeom prst="rect">
            <a:avLst/>
          </a:prstGeom>
        </p:spPr>
      </p:pic>
    </p:spTree>
    <p:extLst>
      <p:ext uri="{BB962C8B-B14F-4D97-AF65-F5344CB8AC3E}">
        <p14:creationId xmlns:p14="http://schemas.microsoft.com/office/powerpoint/2010/main" val="3151522367"/>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ctr" defTabSz="685800" rtl="0" eaLnBrk="1" latinLnBrk="0" hangingPunct="1">
        <a:spcBef>
          <a:spcPct val="0"/>
        </a:spcBef>
        <a:buNone/>
        <a:defRPr sz="66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625" indent="-428625" algn="l" defTabSz="685800" rtl="0" eaLnBrk="1" latinLnBrk="0" hangingPunct="1">
        <a:spcBef>
          <a:spcPct val="20000"/>
        </a:spcBef>
        <a:spcAft>
          <a:spcPts val="900"/>
        </a:spcAft>
        <a:buClr>
          <a:schemeClr val="accent1"/>
        </a:buClr>
        <a:buSzPct val="115000"/>
        <a:buFont typeface="Arial"/>
        <a:buChar char="•"/>
        <a:defRPr sz="3600" kern="1200" cap="none">
          <a:solidFill>
            <a:schemeClr val="tx1">
              <a:lumMod val="85000"/>
              <a:lumOff val="15000"/>
            </a:schemeClr>
          </a:solidFill>
          <a:effectLst/>
          <a:latin typeface="+mn-lt"/>
          <a:ea typeface="+mn-ea"/>
          <a:cs typeface="+mn-cs"/>
        </a:defRPr>
      </a:lvl1pPr>
      <a:lvl2pPr marL="1114425" indent="-428625" algn="l" defTabSz="685800" rtl="0" eaLnBrk="1" latinLnBrk="0" hangingPunct="1">
        <a:spcBef>
          <a:spcPct val="20000"/>
        </a:spcBef>
        <a:spcAft>
          <a:spcPts val="900"/>
        </a:spcAft>
        <a:buClr>
          <a:schemeClr val="accent1"/>
        </a:buClr>
        <a:buSzPct val="115000"/>
        <a:buFont typeface="Arial"/>
        <a:buChar char="•"/>
        <a:defRPr sz="3000" kern="1200" cap="none">
          <a:solidFill>
            <a:schemeClr val="tx1">
              <a:lumMod val="85000"/>
              <a:lumOff val="15000"/>
            </a:schemeClr>
          </a:solidFill>
          <a:effectLst/>
          <a:latin typeface="+mn-lt"/>
          <a:ea typeface="+mn-ea"/>
          <a:cs typeface="+mn-cs"/>
        </a:defRPr>
      </a:lvl2pPr>
      <a:lvl3pPr marL="1800225" indent="-428625" algn="l" defTabSz="685800" rtl="0" eaLnBrk="1" latinLnBrk="0" hangingPunct="1">
        <a:spcBef>
          <a:spcPct val="20000"/>
        </a:spcBef>
        <a:spcAft>
          <a:spcPts val="900"/>
        </a:spcAft>
        <a:buClr>
          <a:schemeClr val="accent1"/>
        </a:buClr>
        <a:buSzPct val="115000"/>
        <a:buFont typeface="Arial"/>
        <a:buChar char="•"/>
        <a:defRPr sz="2700" kern="1200" cap="none">
          <a:solidFill>
            <a:schemeClr val="tx1">
              <a:lumMod val="85000"/>
              <a:lumOff val="15000"/>
            </a:schemeClr>
          </a:solidFill>
          <a:effectLst/>
          <a:latin typeface="+mn-lt"/>
          <a:ea typeface="+mn-ea"/>
          <a:cs typeface="+mn-cs"/>
        </a:defRPr>
      </a:lvl3pPr>
      <a:lvl4pPr marL="2314575" indent="-257175" algn="l" defTabSz="685800" rtl="0" eaLnBrk="1" latinLnBrk="0" hangingPunct="1">
        <a:spcBef>
          <a:spcPct val="20000"/>
        </a:spcBef>
        <a:spcAft>
          <a:spcPts val="9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4pPr>
      <a:lvl5pPr marL="3000375" indent="-257175"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5pPr>
      <a:lvl6pPr marL="37719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6pPr>
      <a:lvl7pPr marL="44577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7pPr>
      <a:lvl8pPr marL="51435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8pPr>
      <a:lvl9pPr marL="58293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5" name="TextBox 5"/>
          <p:cNvSpPr txBox="1"/>
          <p:nvPr/>
        </p:nvSpPr>
        <p:spPr>
          <a:xfrm>
            <a:off x="1702023" y="2377222"/>
            <a:ext cx="14883954" cy="4924425"/>
          </a:xfrm>
          <a:prstGeom prst="rect">
            <a:avLst/>
          </a:prstGeom>
        </p:spPr>
        <p:txBody>
          <a:bodyPr wrap="square" lIns="0" tIns="0" rIns="0" bIns="0" rtlCol="0" anchor="t">
            <a:spAutoFit/>
          </a:bodyPr>
          <a:lstStyle/>
          <a:p>
            <a:pPr algn="ctr"/>
            <a:r>
              <a:rPr lang="en-US" sz="8000" dirty="0">
                <a:solidFill>
                  <a:srgbClr val="343434"/>
                </a:solidFill>
                <a:latin typeface="Candal"/>
              </a:rPr>
              <a:t>DISTRIBUTED DEEP LEARNING USING CNN FOR PORT CONGESTION PREDICTION</a:t>
            </a:r>
            <a:endParaRPr lang="en-US" sz="8000" dirty="0">
              <a:solidFill>
                <a:srgbClr val="343434"/>
              </a:solidFill>
              <a:latin typeface="Candal"/>
              <a:sym typeface="Candal"/>
            </a:endParaRPr>
          </a:p>
        </p:txBody>
      </p:sp>
      <p:sp>
        <p:nvSpPr>
          <p:cNvPr id="10" name="TextBox 10"/>
          <p:cNvSpPr txBox="1"/>
          <p:nvPr/>
        </p:nvSpPr>
        <p:spPr>
          <a:xfrm>
            <a:off x="10439400" y="7353300"/>
            <a:ext cx="6708306" cy="556478"/>
          </a:xfrm>
          <a:prstGeom prst="rect">
            <a:avLst/>
          </a:prstGeom>
        </p:spPr>
        <p:txBody>
          <a:bodyPr lIns="0" tIns="0" rIns="0" bIns="0" rtlCol="0" anchor="t">
            <a:spAutoFit/>
          </a:bodyPr>
          <a:lstStyle/>
          <a:p>
            <a:pPr algn="ctr">
              <a:lnSpc>
                <a:spcPts val="4502"/>
              </a:lnSpc>
            </a:pPr>
            <a:r>
              <a:rPr lang="en-US" sz="3216" dirty="0">
                <a:solidFill>
                  <a:srgbClr val="343434"/>
                </a:solidFill>
                <a:latin typeface="Glacial Indifference"/>
                <a:ea typeface="Glacial Indifference"/>
                <a:cs typeface="Glacial Indifference"/>
                <a:sym typeface="Glacial Indifference"/>
              </a:rPr>
              <a:t>Presented by Team 36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8" name="TextBox 8"/>
          <p:cNvSpPr txBox="1"/>
          <p:nvPr/>
        </p:nvSpPr>
        <p:spPr>
          <a:xfrm>
            <a:off x="4597745" y="1206829"/>
            <a:ext cx="9092509"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Overview</a:t>
            </a:r>
          </a:p>
        </p:txBody>
      </p:sp>
      <p:grpSp>
        <p:nvGrpSpPr>
          <p:cNvPr id="9" name="Group 9"/>
          <p:cNvGrpSpPr/>
          <p:nvPr/>
        </p:nvGrpSpPr>
        <p:grpSpPr>
          <a:xfrm>
            <a:off x="4114800" y="3061667"/>
            <a:ext cx="4677568" cy="3605525"/>
            <a:chOff x="0" y="-66675"/>
            <a:chExt cx="6236757" cy="4807366"/>
          </a:xfrm>
        </p:grpSpPr>
        <p:sp>
          <p:nvSpPr>
            <p:cNvPr id="10" name="TextBox 10"/>
            <p:cNvSpPr txBox="1"/>
            <p:nvPr/>
          </p:nvSpPr>
          <p:spPr>
            <a:xfrm>
              <a:off x="0" y="-66675"/>
              <a:ext cx="4504063" cy="719746"/>
            </a:xfrm>
            <a:prstGeom prst="rect">
              <a:avLst/>
            </a:prstGeom>
          </p:spPr>
          <p:txBody>
            <a:bodyPr lIns="0" tIns="0" rIns="0" bIns="0" rtlCol="0" anchor="t">
              <a:spAutoFit/>
            </a:bodyPr>
            <a:lstStyle/>
            <a:p>
              <a:pPr marL="694425" lvl="1" indent="-347213" algn="l">
                <a:lnSpc>
                  <a:spcPts val="4502"/>
                </a:lnSpc>
                <a:buFont typeface="Arial"/>
                <a:buChar char="•"/>
              </a:pPr>
              <a:r>
                <a:rPr lang="en-US" sz="3216" b="1" dirty="0">
                  <a:solidFill>
                    <a:srgbClr val="343434"/>
                  </a:solidFill>
                  <a:latin typeface="Glacial Indifference Bold"/>
                  <a:ea typeface="Glacial Indifference Bold"/>
                  <a:cs typeface="Glacial Indifference Bold"/>
                  <a:sym typeface="Glacial Indifference Bold"/>
                </a:rPr>
                <a:t>Abstract</a:t>
              </a:r>
            </a:p>
          </p:txBody>
        </p:sp>
        <p:sp>
          <p:nvSpPr>
            <p:cNvPr id="11" name="TextBox 11"/>
            <p:cNvSpPr txBox="1"/>
            <p:nvPr/>
          </p:nvSpPr>
          <p:spPr>
            <a:xfrm>
              <a:off x="0" y="1297596"/>
              <a:ext cx="6236757" cy="719746"/>
            </a:xfrm>
            <a:prstGeom prst="rect">
              <a:avLst/>
            </a:prstGeom>
          </p:spPr>
          <p:txBody>
            <a:bodyPr lIns="0" tIns="0" rIns="0" bIns="0" rtlCol="0" anchor="t">
              <a:spAutoFit/>
            </a:bodyPr>
            <a:lstStyle/>
            <a:p>
              <a:pPr marL="694425" lvl="1" indent="-347213" algn="l">
                <a:lnSpc>
                  <a:spcPts val="4502"/>
                </a:lnSpc>
                <a:buFont typeface="Arial"/>
                <a:buChar char="•"/>
              </a:pPr>
              <a:r>
                <a:rPr lang="en-US" sz="3216" b="1">
                  <a:solidFill>
                    <a:srgbClr val="343434"/>
                  </a:solidFill>
                  <a:latin typeface="Glacial Indifference Bold"/>
                  <a:ea typeface="Glacial Indifference Bold"/>
                  <a:cs typeface="Glacial Indifference Bold"/>
                  <a:sym typeface="Glacial Indifference Bold"/>
                </a:rPr>
                <a:t>Introduction</a:t>
              </a:r>
            </a:p>
          </p:txBody>
        </p:sp>
        <p:sp>
          <p:nvSpPr>
            <p:cNvPr id="12" name="TextBox 12"/>
            <p:cNvSpPr txBox="1"/>
            <p:nvPr/>
          </p:nvSpPr>
          <p:spPr>
            <a:xfrm>
              <a:off x="0" y="2661866"/>
              <a:ext cx="6236757" cy="719746"/>
            </a:xfrm>
            <a:prstGeom prst="rect">
              <a:avLst/>
            </a:prstGeom>
          </p:spPr>
          <p:txBody>
            <a:bodyPr lIns="0" tIns="0" rIns="0" bIns="0" rtlCol="0" anchor="t">
              <a:spAutoFit/>
            </a:bodyPr>
            <a:lstStyle/>
            <a:p>
              <a:pPr marL="694425" lvl="1" indent="-347213" algn="l">
                <a:lnSpc>
                  <a:spcPts val="4502"/>
                </a:lnSpc>
                <a:buFont typeface="Arial"/>
                <a:buChar char="•"/>
              </a:pPr>
              <a:r>
                <a:rPr lang="en-US" sz="3216" b="1" dirty="0">
                  <a:solidFill>
                    <a:srgbClr val="343434"/>
                  </a:solidFill>
                  <a:latin typeface="Glacial Indifference Bold"/>
                  <a:ea typeface="Glacial Indifference Bold"/>
                  <a:cs typeface="Glacial Indifference Bold"/>
                  <a:sym typeface="Glacial Indifference Bold"/>
                </a:rPr>
                <a:t>Problem Statement</a:t>
              </a:r>
            </a:p>
          </p:txBody>
        </p:sp>
        <p:sp>
          <p:nvSpPr>
            <p:cNvPr id="13" name="TextBox 13"/>
            <p:cNvSpPr txBox="1"/>
            <p:nvPr/>
          </p:nvSpPr>
          <p:spPr>
            <a:xfrm>
              <a:off x="0" y="4026136"/>
              <a:ext cx="5540312" cy="714555"/>
            </a:xfrm>
            <a:prstGeom prst="rect">
              <a:avLst/>
            </a:prstGeom>
          </p:spPr>
          <p:txBody>
            <a:bodyPr lIns="0" tIns="0" rIns="0" bIns="0" rtlCol="0" anchor="t">
              <a:spAutoFit/>
            </a:bodyPr>
            <a:lstStyle/>
            <a:p>
              <a:pPr marL="694425" lvl="1" indent="-347213" algn="l">
                <a:lnSpc>
                  <a:spcPts val="4502"/>
                </a:lnSpc>
                <a:buFont typeface="Arial"/>
                <a:buChar char="•"/>
              </a:pPr>
              <a:r>
                <a:rPr lang="en-US" sz="3216" b="1" dirty="0">
                  <a:solidFill>
                    <a:srgbClr val="343434"/>
                  </a:solidFill>
                  <a:latin typeface="Glacial Indifference Bold"/>
                  <a:ea typeface="Glacial Indifference Bold"/>
                  <a:cs typeface="Glacial Indifference Bold"/>
                  <a:sym typeface="Glacial Indifference Bold"/>
                </a:rPr>
                <a:t>Objectives</a:t>
              </a:r>
            </a:p>
          </p:txBody>
        </p:sp>
      </p:grpSp>
      <p:grpSp>
        <p:nvGrpSpPr>
          <p:cNvPr id="14" name="Group 14"/>
          <p:cNvGrpSpPr/>
          <p:nvPr/>
        </p:nvGrpSpPr>
        <p:grpSpPr>
          <a:xfrm>
            <a:off x="9542588" y="3061667"/>
            <a:ext cx="4907193" cy="4713660"/>
            <a:chOff x="-3279" y="-66675"/>
            <a:chExt cx="6542923" cy="6284880"/>
          </a:xfrm>
        </p:grpSpPr>
        <p:sp>
          <p:nvSpPr>
            <p:cNvPr id="15" name="TextBox 15"/>
            <p:cNvSpPr txBox="1"/>
            <p:nvPr/>
          </p:nvSpPr>
          <p:spPr>
            <a:xfrm>
              <a:off x="0" y="-66675"/>
              <a:ext cx="6336875" cy="719746"/>
            </a:xfrm>
            <a:prstGeom prst="rect">
              <a:avLst/>
            </a:prstGeom>
          </p:spPr>
          <p:txBody>
            <a:bodyPr lIns="0" tIns="0" rIns="0" bIns="0" rtlCol="0" anchor="t">
              <a:spAutoFit/>
            </a:bodyPr>
            <a:lstStyle/>
            <a:p>
              <a:pPr marL="347212" lvl="1" algn="l">
                <a:lnSpc>
                  <a:spcPts val="4502"/>
                </a:lnSpc>
              </a:pPr>
              <a:endParaRPr lang="en-US" sz="3216" b="1" dirty="0">
                <a:solidFill>
                  <a:srgbClr val="343434"/>
                </a:solidFill>
                <a:latin typeface="Glacial Indifference Bold"/>
                <a:ea typeface="Glacial Indifference Bold"/>
                <a:cs typeface="Glacial Indifference Bold"/>
                <a:sym typeface="Glacial Indifference Bold"/>
              </a:endParaRPr>
            </a:p>
          </p:txBody>
        </p:sp>
        <p:sp>
          <p:nvSpPr>
            <p:cNvPr id="16" name="TextBox 16"/>
            <p:cNvSpPr txBox="1"/>
            <p:nvPr/>
          </p:nvSpPr>
          <p:spPr>
            <a:xfrm>
              <a:off x="-3279" y="42857"/>
              <a:ext cx="6542923" cy="714555"/>
            </a:xfrm>
            <a:prstGeom prst="rect">
              <a:avLst/>
            </a:prstGeom>
          </p:spPr>
          <p:txBody>
            <a:bodyPr lIns="0" tIns="0" rIns="0" bIns="0" rtlCol="0" anchor="t">
              <a:spAutoFit/>
            </a:bodyPr>
            <a:lstStyle/>
            <a:p>
              <a:pPr marL="694425" lvl="1" indent="-347213" algn="l">
                <a:lnSpc>
                  <a:spcPts val="4502"/>
                </a:lnSpc>
                <a:buFont typeface="Arial"/>
                <a:buChar char="•"/>
              </a:pPr>
              <a:r>
                <a:rPr lang="en-US" sz="3216" b="1" dirty="0">
                  <a:solidFill>
                    <a:srgbClr val="343434"/>
                  </a:solidFill>
                  <a:latin typeface="Glacial Indifference Bold"/>
                  <a:ea typeface="Glacial Indifference Bold"/>
                  <a:cs typeface="Glacial Indifference Bold"/>
                  <a:sym typeface="Glacial Indifference Bold"/>
                </a:rPr>
                <a:t>Architecture Diagram</a:t>
              </a:r>
            </a:p>
          </p:txBody>
        </p:sp>
        <p:sp>
          <p:nvSpPr>
            <p:cNvPr id="17" name="TextBox 17"/>
            <p:cNvSpPr txBox="1"/>
            <p:nvPr/>
          </p:nvSpPr>
          <p:spPr>
            <a:xfrm>
              <a:off x="0" y="2698450"/>
              <a:ext cx="6336875" cy="719747"/>
            </a:xfrm>
            <a:prstGeom prst="rect">
              <a:avLst/>
            </a:prstGeom>
          </p:spPr>
          <p:txBody>
            <a:bodyPr lIns="0" tIns="0" rIns="0" bIns="0" rtlCol="0" anchor="t">
              <a:spAutoFit/>
            </a:bodyPr>
            <a:lstStyle/>
            <a:p>
              <a:pPr marL="694425" lvl="1" indent="-347213" algn="l">
                <a:lnSpc>
                  <a:spcPts val="4502"/>
                </a:lnSpc>
                <a:buFont typeface="Arial"/>
                <a:buChar char="•"/>
              </a:pPr>
              <a:r>
                <a:rPr lang="en-US" sz="3216" b="1" dirty="0">
                  <a:solidFill>
                    <a:srgbClr val="343434"/>
                  </a:solidFill>
                  <a:latin typeface="Glacial Indifference Bold"/>
                  <a:ea typeface="Glacial Indifference Bold"/>
                  <a:cs typeface="Glacial Indifference Bold"/>
                  <a:sym typeface="Glacial Indifference Bold"/>
                </a:rPr>
                <a:t>Modules Proposed</a:t>
              </a:r>
            </a:p>
          </p:txBody>
        </p:sp>
        <p:sp>
          <p:nvSpPr>
            <p:cNvPr id="18" name="TextBox 18"/>
            <p:cNvSpPr txBox="1"/>
            <p:nvPr/>
          </p:nvSpPr>
          <p:spPr>
            <a:xfrm>
              <a:off x="-3279" y="5498458"/>
              <a:ext cx="4871550" cy="719747"/>
            </a:xfrm>
            <a:prstGeom prst="rect">
              <a:avLst/>
            </a:prstGeom>
          </p:spPr>
          <p:txBody>
            <a:bodyPr lIns="0" tIns="0" rIns="0" bIns="0" rtlCol="0" anchor="t">
              <a:spAutoFit/>
            </a:bodyPr>
            <a:lstStyle/>
            <a:p>
              <a:pPr marL="694425" lvl="1" indent="-347213" algn="l">
                <a:lnSpc>
                  <a:spcPts val="4502"/>
                </a:lnSpc>
                <a:buFont typeface="Arial"/>
                <a:buChar char="•"/>
              </a:pPr>
              <a:r>
                <a:rPr lang="en-US" sz="3216" b="1" dirty="0">
                  <a:solidFill>
                    <a:srgbClr val="343434"/>
                  </a:solidFill>
                  <a:latin typeface="Glacial Indifference Bold"/>
                  <a:ea typeface="Glacial Indifference Bold"/>
                  <a:cs typeface="Glacial Indifference Bold"/>
                  <a:sym typeface="Glacial Indifference Bold"/>
                </a:rPr>
                <a:t>Reference</a:t>
              </a:r>
            </a:p>
          </p:txBody>
        </p:sp>
      </p:grpSp>
      <p:sp>
        <p:nvSpPr>
          <p:cNvPr id="19" name="TextBox 18">
            <a:extLst>
              <a:ext uri="{FF2B5EF4-FFF2-40B4-BE49-F238E27FC236}">
                <a16:creationId xmlns:a16="http://schemas.microsoft.com/office/drawing/2014/main" id="{19E39FC8-D9E0-6D87-05CA-CBAEFA04844F}"/>
              </a:ext>
            </a:extLst>
          </p:cNvPr>
          <p:cNvSpPr txBox="1"/>
          <p:nvPr/>
        </p:nvSpPr>
        <p:spPr>
          <a:xfrm>
            <a:off x="4038600" y="7150585"/>
            <a:ext cx="4155233" cy="628249"/>
          </a:xfrm>
          <a:prstGeom prst="rect">
            <a:avLst/>
          </a:prstGeom>
          <a:noFill/>
        </p:spPr>
        <p:txBody>
          <a:bodyPr wrap="square" rtlCol="0">
            <a:spAutoFit/>
          </a:bodyPr>
          <a:lstStyle/>
          <a:p>
            <a:pPr marL="694425" lvl="1" indent="-347213">
              <a:lnSpc>
                <a:spcPts val="4502"/>
              </a:lnSpc>
              <a:buFont typeface="Arial"/>
              <a:buChar char="•"/>
            </a:pPr>
            <a:r>
              <a:rPr lang="en-US" sz="3216" b="1" dirty="0">
                <a:solidFill>
                  <a:srgbClr val="343434"/>
                </a:solidFill>
                <a:latin typeface="Glacial Indifference Bold"/>
                <a:ea typeface="Glacial Indifference Bold"/>
                <a:cs typeface="Glacial Indifference Bold"/>
                <a:sym typeface="Glacial Indifference Bold"/>
              </a:rPr>
              <a:t>Literature Survey</a:t>
            </a:r>
          </a:p>
        </p:txBody>
      </p:sp>
      <p:sp>
        <p:nvSpPr>
          <p:cNvPr id="20" name="TextBox 19">
            <a:extLst>
              <a:ext uri="{FF2B5EF4-FFF2-40B4-BE49-F238E27FC236}">
                <a16:creationId xmlns:a16="http://schemas.microsoft.com/office/drawing/2014/main" id="{6E91893F-143F-564F-C9A1-E6EC4C7377FD}"/>
              </a:ext>
            </a:extLst>
          </p:cNvPr>
          <p:cNvSpPr txBox="1"/>
          <p:nvPr/>
        </p:nvSpPr>
        <p:spPr>
          <a:xfrm>
            <a:off x="9444845" y="4145067"/>
            <a:ext cx="4086904" cy="628249"/>
          </a:xfrm>
          <a:prstGeom prst="rect">
            <a:avLst/>
          </a:prstGeom>
          <a:noFill/>
        </p:spPr>
        <p:txBody>
          <a:bodyPr wrap="square" rtlCol="0">
            <a:spAutoFit/>
          </a:bodyPr>
          <a:lstStyle/>
          <a:p>
            <a:pPr marL="694425" lvl="1" indent="-347213">
              <a:lnSpc>
                <a:spcPts val="4502"/>
              </a:lnSpc>
              <a:buFont typeface="Arial"/>
              <a:buChar char="•"/>
            </a:pPr>
            <a:r>
              <a:rPr lang="en-US" sz="3216" b="1" dirty="0">
                <a:solidFill>
                  <a:srgbClr val="343434"/>
                </a:solidFill>
                <a:latin typeface="Glacial Indifference Bold"/>
              </a:rPr>
              <a:t>Flow Diagram</a:t>
            </a:r>
            <a:endParaRPr lang="en-IN" sz="3216" b="1" dirty="0">
              <a:solidFill>
                <a:srgbClr val="343434"/>
              </a:solidFill>
              <a:latin typeface="Glacial Indifference Bold"/>
            </a:endParaRPr>
          </a:p>
        </p:txBody>
      </p:sp>
      <p:sp>
        <p:nvSpPr>
          <p:cNvPr id="21" name="TextBox 20">
            <a:extLst>
              <a:ext uri="{FF2B5EF4-FFF2-40B4-BE49-F238E27FC236}">
                <a16:creationId xmlns:a16="http://schemas.microsoft.com/office/drawing/2014/main" id="{0D3AE501-9B54-6DA3-AD5C-3AE3CD4BF6C9}"/>
              </a:ext>
            </a:extLst>
          </p:cNvPr>
          <p:cNvSpPr txBox="1"/>
          <p:nvPr/>
        </p:nvSpPr>
        <p:spPr>
          <a:xfrm>
            <a:off x="9444845" y="6141933"/>
            <a:ext cx="5257800" cy="628249"/>
          </a:xfrm>
          <a:prstGeom prst="rect">
            <a:avLst/>
          </a:prstGeom>
          <a:noFill/>
        </p:spPr>
        <p:txBody>
          <a:bodyPr wrap="square" rtlCol="0">
            <a:spAutoFit/>
          </a:bodyPr>
          <a:lstStyle/>
          <a:p>
            <a:pPr marL="694425" lvl="1" indent="-347213">
              <a:lnSpc>
                <a:spcPts val="4502"/>
              </a:lnSpc>
              <a:buFont typeface="Arial"/>
              <a:buChar char="•"/>
            </a:pPr>
            <a:r>
              <a:rPr lang="en-IN" sz="3216" b="1" dirty="0">
                <a:solidFill>
                  <a:srgbClr val="343434"/>
                </a:solidFill>
                <a:latin typeface="Glacial Indifference Bold"/>
              </a:rPr>
              <a:t>Dataset Description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7" name="TextBox 7"/>
          <p:cNvSpPr txBox="1"/>
          <p:nvPr/>
        </p:nvSpPr>
        <p:spPr>
          <a:xfrm>
            <a:off x="5019745" y="1104900"/>
            <a:ext cx="8248511"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Abstract</a:t>
            </a:r>
          </a:p>
        </p:txBody>
      </p:sp>
      <p:sp>
        <p:nvSpPr>
          <p:cNvPr id="8" name="TextBox 8"/>
          <p:cNvSpPr txBox="1"/>
          <p:nvPr/>
        </p:nvSpPr>
        <p:spPr>
          <a:xfrm>
            <a:off x="1380857" y="3081302"/>
            <a:ext cx="7417674" cy="5025390"/>
          </a:xfrm>
          <a:prstGeom prst="rect">
            <a:avLst/>
          </a:prstGeom>
        </p:spPr>
        <p:txBody>
          <a:bodyPr lIns="0" tIns="0" rIns="0" bIns="0" rtlCol="0" anchor="t">
            <a:spAutoFit/>
          </a:bodyPr>
          <a:lstStyle/>
          <a:p>
            <a:pPr algn="just">
              <a:lnSpc>
                <a:spcPts val="3359"/>
              </a:lnSpc>
            </a:pPr>
            <a:r>
              <a:rPr lang="en-US" sz="2400" dirty="0">
                <a:solidFill>
                  <a:srgbClr val="343434"/>
                </a:solidFill>
                <a:latin typeface="Glacial Indifference"/>
                <a:ea typeface="Glacial Indifference"/>
                <a:cs typeface="Glacial Indifference"/>
                <a:sym typeface="Glacial Indifference"/>
              </a:rPr>
              <a:t>The rapid expansion of smart port infrastructure has resulted in the deployment of high-resolution surveillance systems that generate large volumes of visual data for monitoring vessel traffic and port operations. Accurate prediction of port congestion and unloading time is essential for efficient resource management and reduction of operational delays. However, existing approaches predominantly rely on centralized deep learning models, which face scalability issues, high computational overhead, and increased training latency when processing large-scale image datasets.</a:t>
            </a:r>
          </a:p>
        </p:txBody>
      </p:sp>
      <p:sp>
        <p:nvSpPr>
          <p:cNvPr id="9" name="TextBox 9"/>
          <p:cNvSpPr txBox="1"/>
          <p:nvPr/>
        </p:nvSpPr>
        <p:spPr>
          <a:xfrm>
            <a:off x="9559419" y="3081302"/>
            <a:ext cx="7417674" cy="5025390"/>
          </a:xfrm>
          <a:prstGeom prst="rect">
            <a:avLst/>
          </a:prstGeom>
        </p:spPr>
        <p:txBody>
          <a:bodyPr lIns="0" tIns="0" rIns="0" bIns="0" rtlCol="0" anchor="t">
            <a:spAutoFit/>
          </a:bodyPr>
          <a:lstStyle/>
          <a:p>
            <a:pPr algn="just">
              <a:lnSpc>
                <a:spcPts val="3359"/>
              </a:lnSpc>
            </a:pPr>
            <a:r>
              <a:rPr lang="en-US" sz="2400">
                <a:solidFill>
                  <a:srgbClr val="343434"/>
                </a:solidFill>
                <a:latin typeface="Glacial Indifference"/>
                <a:ea typeface="Glacial Indifference"/>
                <a:cs typeface="Glacial Indifference"/>
                <a:sym typeface="Glacial Indifference"/>
              </a:rPr>
              <a:t>To address these challenges, this project proposes a Distributed Deep Learning (DDL) framework using Convolutional Neural Networks (CNNs) for vision-based port congestion prediction. The proposed system distributes the training workload across multiple computing nodes, enabling parallel processing of port images and faster model convergence. By leveraging distributed training, the framework improves scalability, optimizes resource utilization, and enhances prediction performance. The system outputs congestion levels and estimated unloading time, supporting real-time decision-making in smart port management.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4" name="TextBox 4"/>
          <p:cNvSpPr txBox="1"/>
          <p:nvPr/>
        </p:nvSpPr>
        <p:spPr>
          <a:xfrm>
            <a:off x="1524000" y="2705100"/>
            <a:ext cx="6553200" cy="6084999"/>
          </a:xfrm>
          <a:prstGeom prst="rect">
            <a:avLst/>
          </a:prstGeom>
        </p:spPr>
        <p:txBody>
          <a:bodyPr wrap="square" lIns="0" tIns="0" rIns="0" bIns="0" rtlCol="0" anchor="t">
            <a:spAutoFit/>
          </a:bodyPr>
          <a:lstStyle/>
          <a:p>
            <a:pPr algn="just">
              <a:lnSpc>
                <a:spcPts val="3359"/>
              </a:lnSpc>
            </a:pPr>
            <a:r>
              <a:rPr lang="en-US" sz="2800" b="1" dirty="0">
                <a:solidFill>
                  <a:srgbClr val="343434"/>
                </a:solidFill>
                <a:latin typeface="Glacial Indifference Bold"/>
                <a:ea typeface="Glacial Indifference Bold"/>
                <a:cs typeface="Glacial Indifference Bold"/>
                <a:sym typeface="Glacial Indifference Bold"/>
              </a:rPr>
              <a:t>Distributed Deep Learning (DDL)</a:t>
            </a:r>
            <a:r>
              <a:rPr lang="en-US" sz="2800" dirty="0">
                <a:solidFill>
                  <a:srgbClr val="343434"/>
                </a:solidFill>
                <a:latin typeface="Glacial Indifference"/>
                <a:ea typeface="Glacial Indifference"/>
                <a:cs typeface="Glacial Indifference"/>
                <a:sym typeface="Glacial Indifference"/>
              </a:rPr>
              <a:t> trains neural networks using multiple CPUs, GPUs, or machines working together. It overcomes the limitations of single-machine training by parallelizing computation across nodes. In </a:t>
            </a:r>
            <a:r>
              <a:rPr lang="en-US" sz="2800" b="1" dirty="0">
                <a:solidFill>
                  <a:srgbClr val="343434"/>
                </a:solidFill>
                <a:latin typeface="Glacial Indifference Bold"/>
                <a:ea typeface="Glacial Indifference Bold"/>
                <a:cs typeface="Glacial Indifference Bold"/>
                <a:sym typeface="Glacial Indifference Bold"/>
              </a:rPr>
              <a:t>data parallelism</a:t>
            </a:r>
            <a:r>
              <a:rPr lang="en-US" sz="2800" dirty="0">
                <a:solidFill>
                  <a:srgbClr val="343434"/>
                </a:solidFill>
                <a:latin typeface="Glacial Indifference"/>
                <a:ea typeface="Glacial Indifference"/>
                <a:cs typeface="Glacial Indifference"/>
                <a:sym typeface="Glacial Indifference"/>
              </a:rPr>
              <a:t>, the same model trains on different data subsets across multiple workers. In </a:t>
            </a:r>
            <a:r>
              <a:rPr lang="en-US" sz="2800" b="1" dirty="0">
                <a:solidFill>
                  <a:srgbClr val="343434"/>
                </a:solidFill>
                <a:latin typeface="Glacial Indifference Bold"/>
                <a:ea typeface="Glacial Indifference Bold"/>
                <a:cs typeface="Glacial Indifference Bold"/>
                <a:sym typeface="Glacial Indifference Bold"/>
              </a:rPr>
              <a:t>model parallelism</a:t>
            </a:r>
            <a:r>
              <a:rPr lang="en-US" sz="2800" dirty="0">
                <a:solidFill>
                  <a:srgbClr val="343434"/>
                </a:solidFill>
                <a:latin typeface="Glacial Indifference"/>
                <a:ea typeface="Glacial Indifference"/>
                <a:cs typeface="Glacial Indifference"/>
                <a:sym typeface="Glacial Indifference"/>
              </a:rPr>
              <a:t>, different parts of the network are distributed across machines. DDL improves training speed, scalability, and resource utilization for large datasets. Applications of DDL are NLP and healthcare imaging. </a:t>
            </a:r>
          </a:p>
        </p:txBody>
      </p:sp>
      <p:sp>
        <p:nvSpPr>
          <p:cNvPr id="8" name="TextBox 8"/>
          <p:cNvSpPr txBox="1"/>
          <p:nvPr/>
        </p:nvSpPr>
        <p:spPr>
          <a:xfrm>
            <a:off x="3994649" y="902197"/>
            <a:ext cx="10298701"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Introduction</a:t>
            </a:r>
          </a:p>
        </p:txBody>
      </p:sp>
      <p:pic>
        <p:nvPicPr>
          <p:cNvPr id="3" name="Picture 2">
            <a:extLst>
              <a:ext uri="{FF2B5EF4-FFF2-40B4-BE49-F238E27FC236}">
                <a16:creationId xmlns:a16="http://schemas.microsoft.com/office/drawing/2014/main" id="{F4666ECC-D15C-182C-99DC-42516DD731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0600" y="2857500"/>
            <a:ext cx="8458200" cy="5739268"/>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10" name="TextBox 10"/>
          <p:cNvSpPr txBox="1"/>
          <p:nvPr/>
        </p:nvSpPr>
        <p:spPr>
          <a:xfrm>
            <a:off x="1790700" y="3162300"/>
            <a:ext cx="14706600" cy="5251438"/>
          </a:xfrm>
          <a:prstGeom prst="rect">
            <a:avLst/>
          </a:prstGeom>
        </p:spPr>
        <p:txBody>
          <a:bodyPr wrap="square" lIns="0" tIns="0" rIns="0" bIns="0" rtlCol="0" anchor="t">
            <a:spAutoFit/>
          </a:bodyPr>
          <a:lstStyle/>
          <a:p>
            <a:pPr algn="just">
              <a:lnSpc>
                <a:spcPts val="3359"/>
              </a:lnSpc>
            </a:pPr>
            <a:r>
              <a:rPr lang="en-US" sz="4000" dirty="0">
                <a:solidFill>
                  <a:srgbClr val="343434"/>
                </a:solidFill>
                <a:latin typeface="Glacial Indifference"/>
                <a:ea typeface="Glacial Indifference"/>
                <a:cs typeface="Glacial Indifference"/>
                <a:sym typeface="Glacial Indifference"/>
              </a:rPr>
              <a:t>The rapid advancement of smart port infrastructure has led to the deployment of high-resolution surveillance systems, generating large-scale visual datasets for maritime monitoring. Current port congestion prediction frameworks predominantly rely on centralized deep learning architectures. Centralized architectures suffer from high computational overhead and latency. The proposed solution is a distributed deep learning framework based on convolutional neural networks to </a:t>
            </a:r>
            <a:r>
              <a:rPr lang="en-US" sz="4000" dirty="0" err="1">
                <a:solidFill>
                  <a:srgbClr val="343434"/>
                </a:solidFill>
                <a:latin typeface="Glacial Indifference"/>
                <a:ea typeface="Glacial Indifference"/>
                <a:cs typeface="Glacial Indifference"/>
                <a:sym typeface="Glacial Indifference"/>
              </a:rPr>
              <a:t>analyse</a:t>
            </a:r>
            <a:r>
              <a:rPr lang="en-US" sz="4000" dirty="0">
                <a:solidFill>
                  <a:srgbClr val="343434"/>
                </a:solidFill>
                <a:latin typeface="Glacial Indifference"/>
                <a:ea typeface="Glacial Indifference"/>
                <a:cs typeface="Glacial Indifference"/>
                <a:sym typeface="Glacial Indifference"/>
              </a:rPr>
              <a:t> port images for congestion prediction and unloading time estimation. This approach ensures efficient resource utilization and reliable performance, supporting real-time smart port management with enhanced responsiveness.</a:t>
            </a:r>
          </a:p>
        </p:txBody>
      </p:sp>
      <p:sp>
        <p:nvSpPr>
          <p:cNvPr id="11" name="TextBox 11"/>
          <p:cNvSpPr txBox="1"/>
          <p:nvPr/>
        </p:nvSpPr>
        <p:spPr>
          <a:xfrm>
            <a:off x="1790700" y="1085227"/>
            <a:ext cx="13796516"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Problem Statement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6" name="TextBox 6"/>
          <p:cNvSpPr txBox="1"/>
          <p:nvPr/>
        </p:nvSpPr>
        <p:spPr>
          <a:xfrm>
            <a:off x="4864281" y="1112753"/>
            <a:ext cx="8559438"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Objective</a:t>
            </a:r>
          </a:p>
        </p:txBody>
      </p:sp>
      <p:sp>
        <p:nvSpPr>
          <p:cNvPr id="7" name="TextBox 7"/>
          <p:cNvSpPr txBox="1"/>
          <p:nvPr/>
        </p:nvSpPr>
        <p:spPr>
          <a:xfrm>
            <a:off x="1524000" y="3009900"/>
            <a:ext cx="14706600" cy="1327286"/>
          </a:xfrm>
          <a:prstGeom prst="rect">
            <a:avLst/>
          </a:prstGeom>
        </p:spPr>
        <p:txBody>
          <a:bodyPr wrap="square" lIns="0" tIns="0" rIns="0" bIns="0" rtlCol="0" anchor="t">
            <a:spAutoFit/>
          </a:bodyPr>
          <a:lstStyle/>
          <a:p>
            <a:pPr marL="518160" lvl="1" indent="-259080" algn="just">
              <a:lnSpc>
                <a:spcPts val="3359"/>
              </a:lnSpc>
              <a:buFont typeface="Arial"/>
              <a:buChar char="•"/>
            </a:pPr>
            <a:r>
              <a:rPr lang="en-US" sz="4000" dirty="0">
                <a:solidFill>
                  <a:srgbClr val="343434"/>
                </a:solidFill>
                <a:latin typeface="Glacial Indifference"/>
                <a:ea typeface="Glacial Indifference"/>
                <a:cs typeface="Glacial Indifference"/>
                <a:sym typeface="Glacial Indifference"/>
              </a:rPr>
              <a:t>To acquire and preprocess large-scale port surveillance images by performing data cleaning, augmentation, and labelling to create a structured dataset suitable for deep learning training. </a:t>
            </a:r>
          </a:p>
        </p:txBody>
      </p:sp>
      <p:sp>
        <p:nvSpPr>
          <p:cNvPr id="8" name="TextBox 8"/>
          <p:cNvSpPr txBox="1"/>
          <p:nvPr/>
        </p:nvSpPr>
        <p:spPr>
          <a:xfrm>
            <a:off x="1524000" y="5239864"/>
            <a:ext cx="14706600" cy="1327286"/>
          </a:xfrm>
          <a:prstGeom prst="rect">
            <a:avLst/>
          </a:prstGeom>
        </p:spPr>
        <p:txBody>
          <a:bodyPr wrap="square" lIns="0" tIns="0" rIns="0" bIns="0" rtlCol="0" anchor="t">
            <a:spAutoFit/>
          </a:bodyPr>
          <a:lstStyle/>
          <a:p>
            <a:pPr marL="518160" lvl="1" indent="-259080" algn="just">
              <a:lnSpc>
                <a:spcPts val="3359"/>
              </a:lnSpc>
              <a:buFont typeface="Arial"/>
              <a:buChar char="•"/>
            </a:pPr>
            <a:r>
              <a:rPr lang="en-US" sz="4000" dirty="0">
                <a:solidFill>
                  <a:srgbClr val="343434"/>
                </a:solidFill>
                <a:latin typeface="Glacial Indifference"/>
                <a:ea typeface="Glacial Indifference"/>
                <a:cs typeface="Glacial Indifference"/>
                <a:sym typeface="Glacial Indifference"/>
              </a:rPr>
              <a:t>To design and train a convolutional neural network model for extracting visual features and predicting port congestion levels and unloading time from image data. </a:t>
            </a:r>
          </a:p>
        </p:txBody>
      </p:sp>
      <p:sp>
        <p:nvSpPr>
          <p:cNvPr id="9" name="TextBox 9"/>
          <p:cNvSpPr txBox="1"/>
          <p:nvPr/>
        </p:nvSpPr>
        <p:spPr>
          <a:xfrm>
            <a:off x="1524000" y="7058926"/>
            <a:ext cx="14706600" cy="1327286"/>
          </a:xfrm>
          <a:prstGeom prst="rect">
            <a:avLst/>
          </a:prstGeom>
        </p:spPr>
        <p:txBody>
          <a:bodyPr wrap="square" lIns="0" tIns="0" rIns="0" bIns="0" rtlCol="0" anchor="t">
            <a:spAutoFit/>
          </a:bodyPr>
          <a:lstStyle/>
          <a:p>
            <a:pPr marL="518160" lvl="1" indent="-259080" algn="just">
              <a:lnSpc>
                <a:spcPts val="3359"/>
              </a:lnSpc>
              <a:buFont typeface="Arial"/>
              <a:buChar char="•"/>
            </a:pPr>
            <a:r>
              <a:rPr lang="en-US" sz="4000" dirty="0">
                <a:solidFill>
                  <a:srgbClr val="343434"/>
                </a:solidFill>
                <a:latin typeface="Glacial Indifference"/>
                <a:ea typeface="Glacial Indifference"/>
                <a:cs typeface="Glacial Indifference"/>
                <a:sym typeface="Glacial Indifference"/>
              </a:rPr>
              <a:t>To implement a distributed deep learning framework using data parallelism to accelerate model training and optimize computational resource utilization.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10" name="TextBox 10"/>
          <p:cNvSpPr txBox="1"/>
          <p:nvPr/>
        </p:nvSpPr>
        <p:spPr>
          <a:xfrm>
            <a:off x="2057400" y="483898"/>
            <a:ext cx="13851498" cy="1470787"/>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 Literature Survey</a:t>
            </a:r>
          </a:p>
        </p:txBody>
      </p:sp>
      <p:graphicFrame>
        <p:nvGraphicFramePr>
          <p:cNvPr id="12" name="Table 11">
            <a:extLst>
              <a:ext uri="{FF2B5EF4-FFF2-40B4-BE49-F238E27FC236}">
                <a16:creationId xmlns:a16="http://schemas.microsoft.com/office/drawing/2014/main" id="{AC7FB4E5-AB97-70AE-3E55-733DA5E82E87}"/>
              </a:ext>
            </a:extLst>
          </p:cNvPr>
          <p:cNvGraphicFramePr>
            <a:graphicFrameLocks noGrp="1"/>
          </p:cNvGraphicFramePr>
          <p:nvPr>
            <p:extLst>
              <p:ext uri="{D42A27DB-BD31-4B8C-83A1-F6EECF244321}">
                <p14:modId xmlns:p14="http://schemas.microsoft.com/office/powerpoint/2010/main" val="1824056712"/>
              </p:ext>
            </p:extLst>
          </p:nvPr>
        </p:nvGraphicFramePr>
        <p:xfrm>
          <a:off x="1397686" y="2247900"/>
          <a:ext cx="15492628" cy="7112063"/>
        </p:xfrm>
        <a:graphic>
          <a:graphicData uri="http://schemas.openxmlformats.org/drawingml/2006/table">
            <a:tbl>
              <a:tblPr>
                <a:tableStyleId>{616DA210-FB5B-4158-B5E0-FEB733F419BA}</a:tableStyleId>
              </a:tblPr>
              <a:tblGrid>
                <a:gridCol w="964514">
                  <a:extLst>
                    <a:ext uri="{9D8B030D-6E8A-4147-A177-3AD203B41FA5}">
                      <a16:colId xmlns:a16="http://schemas.microsoft.com/office/drawing/2014/main" val="1939737692"/>
                    </a:ext>
                  </a:extLst>
                </a:gridCol>
                <a:gridCol w="2894988">
                  <a:extLst>
                    <a:ext uri="{9D8B030D-6E8A-4147-A177-3AD203B41FA5}">
                      <a16:colId xmlns:a16="http://schemas.microsoft.com/office/drawing/2014/main" val="2834780038"/>
                    </a:ext>
                  </a:extLst>
                </a:gridCol>
                <a:gridCol w="2362200">
                  <a:extLst>
                    <a:ext uri="{9D8B030D-6E8A-4147-A177-3AD203B41FA5}">
                      <a16:colId xmlns:a16="http://schemas.microsoft.com/office/drawing/2014/main" val="203249768"/>
                    </a:ext>
                  </a:extLst>
                </a:gridCol>
                <a:gridCol w="2895600">
                  <a:extLst>
                    <a:ext uri="{9D8B030D-6E8A-4147-A177-3AD203B41FA5}">
                      <a16:colId xmlns:a16="http://schemas.microsoft.com/office/drawing/2014/main" val="630997466"/>
                    </a:ext>
                  </a:extLst>
                </a:gridCol>
                <a:gridCol w="3658212">
                  <a:extLst>
                    <a:ext uri="{9D8B030D-6E8A-4147-A177-3AD203B41FA5}">
                      <a16:colId xmlns:a16="http://schemas.microsoft.com/office/drawing/2014/main" val="1964450102"/>
                    </a:ext>
                  </a:extLst>
                </a:gridCol>
                <a:gridCol w="2717114">
                  <a:extLst>
                    <a:ext uri="{9D8B030D-6E8A-4147-A177-3AD203B41FA5}">
                      <a16:colId xmlns:a16="http://schemas.microsoft.com/office/drawing/2014/main" val="1422419365"/>
                    </a:ext>
                  </a:extLst>
                </a:gridCol>
              </a:tblGrid>
              <a:tr h="762000">
                <a:tc>
                  <a:txBody>
                    <a:bodyPr/>
                    <a:lstStyle/>
                    <a:p>
                      <a:pPr algn="l">
                        <a:buNone/>
                      </a:pPr>
                      <a:r>
                        <a:rPr lang="en-IN" sz="2400" b="1" dirty="0"/>
                        <a:t>S. No</a:t>
                      </a:r>
                      <a:endParaRPr lang="en-IN" sz="2400" dirty="0"/>
                    </a:p>
                  </a:txBody>
                  <a:tcPr marL="16640" marR="16640" marT="8320" marB="8320"/>
                </a:tc>
                <a:tc>
                  <a:txBody>
                    <a:bodyPr/>
                    <a:lstStyle/>
                    <a:p>
                      <a:pPr algn="l">
                        <a:buNone/>
                      </a:pPr>
                      <a:r>
                        <a:rPr lang="en-IN" sz="2400" b="1" dirty="0"/>
                        <a:t>Title</a:t>
                      </a:r>
                      <a:endParaRPr lang="en-IN" sz="2400" dirty="0"/>
                    </a:p>
                  </a:txBody>
                  <a:tcPr marL="16640" marR="16640" marT="8320" marB="8320"/>
                </a:tc>
                <a:tc>
                  <a:txBody>
                    <a:bodyPr/>
                    <a:lstStyle/>
                    <a:p>
                      <a:pPr algn="l">
                        <a:buNone/>
                      </a:pPr>
                      <a:r>
                        <a:rPr lang="en-IN" sz="2400" b="1" dirty="0"/>
                        <a:t>Journal / Transaction</a:t>
                      </a:r>
                      <a:endParaRPr lang="en-IN" sz="2400" dirty="0"/>
                    </a:p>
                  </a:txBody>
                  <a:tcPr marL="16640" marR="16640" marT="8320" marB="8320"/>
                </a:tc>
                <a:tc>
                  <a:txBody>
                    <a:bodyPr/>
                    <a:lstStyle/>
                    <a:p>
                      <a:pPr algn="l">
                        <a:buNone/>
                      </a:pPr>
                      <a:r>
                        <a:rPr lang="en-IN" sz="2400" b="1"/>
                        <a:t>Methodology</a:t>
                      </a:r>
                      <a:endParaRPr lang="en-IN" sz="2400"/>
                    </a:p>
                  </a:txBody>
                  <a:tcPr marL="16640" marR="16640" marT="8320" marB="8320"/>
                </a:tc>
                <a:tc>
                  <a:txBody>
                    <a:bodyPr/>
                    <a:lstStyle/>
                    <a:p>
                      <a:pPr algn="l">
                        <a:buNone/>
                      </a:pPr>
                      <a:r>
                        <a:rPr lang="en-IN" sz="2400" b="1" dirty="0"/>
                        <a:t>Limitations</a:t>
                      </a:r>
                      <a:endParaRPr lang="en-IN" sz="2400" dirty="0"/>
                    </a:p>
                  </a:txBody>
                  <a:tcPr marL="16640" marR="16640" marT="8320" marB="8320"/>
                </a:tc>
                <a:tc>
                  <a:txBody>
                    <a:bodyPr/>
                    <a:lstStyle/>
                    <a:p>
                      <a:pPr algn="l">
                        <a:buNone/>
                      </a:pPr>
                      <a:r>
                        <a:rPr lang="en-IN" sz="2400" b="1" dirty="0"/>
                        <a:t>Datasets Used</a:t>
                      </a:r>
                      <a:endParaRPr lang="en-IN" sz="2400" dirty="0"/>
                    </a:p>
                  </a:txBody>
                  <a:tcPr marL="16640" marR="16640" marT="8320" marB="8320"/>
                </a:tc>
                <a:extLst>
                  <a:ext uri="{0D108BD9-81ED-4DB2-BD59-A6C34878D82A}">
                    <a16:rowId xmlns:a16="http://schemas.microsoft.com/office/drawing/2014/main" val="278067472"/>
                  </a:ext>
                </a:extLst>
              </a:tr>
              <a:tr h="2590800">
                <a:tc>
                  <a:txBody>
                    <a:bodyPr/>
                    <a:lstStyle/>
                    <a:p>
                      <a:pPr algn="l">
                        <a:buNone/>
                      </a:pPr>
                      <a:r>
                        <a:rPr lang="en-IN" sz="2400" b="1" dirty="0"/>
                        <a:t>1</a:t>
                      </a:r>
                      <a:endParaRPr lang="en-IN" sz="2400" dirty="0"/>
                    </a:p>
                  </a:txBody>
                  <a:tcPr marL="16640" marR="16640" marT="8320" marB="8320"/>
                </a:tc>
                <a:tc>
                  <a:txBody>
                    <a:bodyPr/>
                    <a:lstStyle/>
                    <a:p>
                      <a:pPr algn="l">
                        <a:buNone/>
                      </a:pPr>
                      <a:r>
                        <a:rPr lang="en-US" sz="2400" dirty="0"/>
                        <a:t>Distributed Deep Learning </a:t>
                      </a:r>
                      <a:r>
                        <a:rPr lang="en-US" sz="2400" b="0" kern="1200" dirty="0">
                          <a:solidFill>
                            <a:schemeClr val="tx1"/>
                          </a:solidFill>
                          <a:latin typeface="+mn-lt"/>
                          <a:ea typeface="+mn-ea"/>
                          <a:cs typeface="+mn-cs"/>
                        </a:rPr>
                        <a:t>with</a:t>
                      </a:r>
                      <a:r>
                        <a:rPr lang="en-US" sz="2400" dirty="0"/>
                        <a:t> Gradient Compression for Big Remote Sensing Image Interpretation</a:t>
                      </a:r>
                    </a:p>
                  </a:txBody>
                  <a:tcPr marL="16640" marR="16640" marT="8320" marB="8320"/>
                </a:tc>
                <a:tc>
                  <a:txBody>
                    <a:bodyPr/>
                    <a:lstStyle/>
                    <a:p>
                      <a:pPr algn="l">
                        <a:buNone/>
                      </a:pPr>
                      <a:r>
                        <a:rPr lang="en-US" sz="2400" dirty="0"/>
                        <a:t>IEEE Transactions on Neural Networks and Learning Systems, 2025</a:t>
                      </a:r>
                    </a:p>
                  </a:txBody>
                  <a:tcPr marL="16640" marR="16640" marT="8320" marB="8320"/>
                </a:tc>
                <a:tc>
                  <a:txBody>
                    <a:bodyPr/>
                    <a:lstStyle/>
                    <a:p>
                      <a:pPr algn="l">
                        <a:buNone/>
                      </a:pPr>
                      <a:r>
                        <a:rPr lang="en-US" sz="2400"/>
                        <a:t>Distributed learning with centroid-based Gradient Compression (GCC) for hyperspectral target detection on edge devices</a:t>
                      </a:r>
                    </a:p>
                  </a:txBody>
                  <a:tcPr marL="16640" marR="16640" marT="8320" marB="8320"/>
                </a:tc>
                <a:tc>
                  <a:txBody>
                    <a:bodyPr/>
                    <a:lstStyle/>
                    <a:p>
                      <a:pPr algn="l">
                        <a:buNone/>
                      </a:pPr>
                      <a:r>
                        <a:rPr lang="en-IN" sz="2400" dirty="0"/>
                        <a:t>• Requires distributed infrastructure</a:t>
                      </a:r>
                    </a:p>
                    <a:p>
                      <a:pPr algn="l">
                        <a:buNone/>
                      </a:pPr>
                      <a:r>
                        <a:rPr lang="en-IN" sz="2400" dirty="0"/>
                        <a:t>• Centroid computation adds overhead</a:t>
                      </a:r>
                    </a:p>
                  </a:txBody>
                  <a:tcPr marL="16640" marR="16640" marT="8320" marB="8320"/>
                </a:tc>
                <a:tc>
                  <a:txBody>
                    <a:bodyPr/>
                    <a:lstStyle/>
                    <a:p>
                      <a:pPr algn="l">
                        <a:buNone/>
                      </a:pPr>
                      <a:r>
                        <a:rPr lang="en-IN" sz="2400" dirty="0" err="1"/>
                        <a:t>Xiongan</a:t>
                      </a:r>
                      <a:r>
                        <a:rPr lang="en-IN" sz="2400" dirty="0"/>
                        <a:t> New Area (</a:t>
                      </a:r>
                      <a:r>
                        <a:rPr lang="en-IN" sz="2400" dirty="0" err="1"/>
                        <a:t>Matiwan</a:t>
                      </a:r>
                      <a:r>
                        <a:rPr lang="en-IN" sz="2400" dirty="0"/>
                        <a:t> Village)AeroRITCIFAR-10</a:t>
                      </a:r>
                    </a:p>
                  </a:txBody>
                  <a:tcPr marL="16640" marR="16640" marT="8320" marB="8320"/>
                </a:tc>
                <a:extLst>
                  <a:ext uri="{0D108BD9-81ED-4DB2-BD59-A6C34878D82A}">
                    <a16:rowId xmlns:a16="http://schemas.microsoft.com/office/drawing/2014/main" val="935986110"/>
                  </a:ext>
                </a:extLst>
              </a:tr>
              <a:tr h="1913823">
                <a:tc>
                  <a:txBody>
                    <a:bodyPr/>
                    <a:lstStyle/>
                    <a:p>
                      <a:pPr algn="l">
                        <a:buNone/>
                      </a:pPr>
                      <a:r>
                        <a:rPr lang="en-IN" sz="2400" b="1"/>
                        <a:t>2</a:t>
                      </a:r>
                      <a:endParaRPr lang="en-IN" sz="2400"/>
                    </a:p>
                  </a:txBody>
                  <a:tcPr marL="16640" marR="16640" marT="8320" marB="8320"/>
                </a:tc>
                <a:tc>
                  <a:txBody>
                    <a:bodyPr/>
                    <a:lstStyle/>
                    <a:p>
                      <a:pPr algn="l">
                        <a:buNone/>
                      </a:pPr>
                      <a:r>
                        <a:rPr lang="en-IN" sz="2400"/>
                        <a:t>Communication-Efficient Distributed Learning for Hyperspectral Image Analysis</a:t>
                      </a:r>
                    </a:p>
                  </a:txBody>
                  <a:tcPr marL="16640" marR="16640" marT="8320" marB="8320"/>
                </a:tc>
                <a:tc>
                  <a:txBody>
                    <a:bodyPr/>
                    <a:lstStyle/>
                    <a:p>
                      <a:pPr algn="l">
                        <a:buNone/>
                      </a:pPr>
                      <a:r>
                        <a:rPr lang="en-US" sz="2400"/>
                        <a:t>IEEE Transactions on Geoscience and Remote Sensing, 2024</a:t>
                      </a:r>
                    </a:p>
                  </a:txBody>
                  <a:tcPr marL="16640" marR="16640" marT="8320" marB="8320"/>
                </a:tc>
                <a:tc>
                  <a:txBody>
                    <a:bodyPr/>
                    <a:lstStyle/>
                    <a:p>
                      <a:pPr algn="l">
                        <a:buNone/>
                      </a:pPr>
                      <a:r>
                        <a:rPr lang="en-US" sz="2400"/>
                        <a:t>Distributed CNN training with communication-aware optimization</a:t>
                      </a:r>
                    </a:p>
                  </a:txBody>
                  <a:tcPr marL="16640" marR="16640" marT="8320" marB="8320"/>
                </a:tc>
                <a:tc>
                  <a:txBody>
                    <a:bodyPr/>
                    <a:lstStyle/>
                    <a:p>
                      <a:pPr algn="l">
                        <a:buNone/>
                      </a:pPr>
                      <a:r>
                        <a:rPr lang="en-IN" sz="2400" dirty="0"/>
                        <a:t>• No explicit gradient compression</a:t>
                      </a:r>
                    </a:p>
                    <a:p>
                      <a:pPr algn="l">
                        <a:buNone/>
                      </a:pPr>
                      <a:r>
                        <a:rPr lang="en-IN" sz="2400" dirty="0"/>
                        <a:t>• High bandwidth demand</a:t>
                      </a:r>
                    </a:p>
                  </a:txBody>
                  <a:tcPr marL="16640" marR="16640" marT="8320" marB="8320"/>
                </a:tc>
                <a:tc>
                  <a:txBody>
                    <a:bodyPr/>
                    <a:lstStyle/>
                    <a:p>
                      <a:pPr algn="l">
                        <a:buNone/>
                      </a:pPr>
                      <a:r>
                        <a:rPr lang="en-IN" sz="2400"/>
                        <a:t>Fashion-MNISTMNIST</a:t>
                      </a:r>
                    </a:p>
                  </a:txBody>
                  <a:tcPr marL="16640" marR="16640" marT="8320" marB="8320"/>
                </a:tc>
                <a:extLst>
                  <a:ext uri="{0D108BD9-81ED-4DB2-BD59-A6C34878D82A}">
                    <a16:rowId xmlns:a16="http://schemas.microsoft.com/office/drawing/2014/main" val="2184898176"/>
                  </a:ext>
                </a:extLst>
              </a:tr>
              <a:tr h="1685223">
                <a:tc>
                  <a:txBody>
                    <a:bodyPr/>
                    <a:lstStyle/>
                    <a:p>
                      <a:pPr algn="l">
                        <a:buNone/>
                      </a:pPr>
                      <a:r>
                        <a:rPr lang="en-IN" sz="2400" b="1" dirty="0"/>
                        <a:t>3</a:t>
                      </a:r>
                      <a:endParaRPr lang="en-IN" sz="2400" dirty="0"/>
                    </a:p>
                  </a:txBody>
                  <a:tcPr marL="16640" marR="16640" marT="8320" marB="8320"/>
                </a:tc>
                <a:tc>
                  <a:txBody>
                    <a:bodyPr/>
                    <a:lstStyle/>
                    <a:p>
                      <a:pPr algn="l">
                        <a:buNone/>
                      </a:pPr>
                      <a:r>
                        <a:rPr lang="en-US" sz="2400" dirty="0"/>
                        <a:t>Learned Gradient Compression for Distributed Deep Learning</a:t>
                      </a:r>
                    </a:p>
                  </a:txBody>
                  <a:tcPr marL="16640" marR="16640" marT="8320" marB="8320"/>
                </a:tc>
                <a:tc>
                  <a:txBody>
                    <a:bodyPr/>
                    <a:lstStyle/>
                    <a:p>
                      <a:pPr algn="l">
                        <a:buNone/>
                      </a:pPr>
                      <a:r>
                        <a:rPr lang="en-US" sz="2400" dirty="0"/>
                        <a:t>IEEE Transactions on Neural Networks and Learning Systems, 2022</a:t>
                      </a:r>
                    </a:p>
                  </a:txBody>
                  <a:tcPr marL="16640" marR="16640" marT="8320" marB="8320"/>
                </a:tc>
                <a:tc>
                  <a:txBody>
                    <a:bodyPr/>
                    <a:lstStyle/>
                    <a:p>
                      <a:pPr algn="l">
                        <a:buNone/>
                      </a:pPr>
                      <a:r>
                        <a:rPr lang="en-US" sz="2400" dirty="0"/>
                        <a:t>Neural network-based learning of optimal gradient compression patterns</a:t>
                      </a:r>
                    </a:p>
                  </a:txBody>
                  <a:tcPr marL="16640" marR="16640" marT="8320" marB="8320"/>
                </a:tc>
                <a:tc>
                  <a:txBody>
                    <a:bodyPr/>
                    <a:lstStyle/>
                    <a:p>
                      <a:pPr algn="l">
                        <a:buNone/>
                      </a:pPr>
                      <a:r>
                        <a:rPr lang="en-US" sz="2400" dirty="0"/>
                        <a:t>• Additional model overhead</a:t>
                      </a:r>
                    </a:p>
                    <a:p>
                      <a:pPr algn="l">
                        <a:buNone/>
                      </a:pPr>
                      <a:r>
                        <a:rPr lang="en-US" sz="2400" dirty="0"/>
                        <a:t>• Initial training instability</a:t>
                      </a:r>
                    </a:p>
                  </a:txBody>
                  <a:tcPr marL="16640" marR="16640" marT="8320" marB="8320"/>
                </a:tc>
                <a:tc>
                  <a:txBody>
                    <a:bodyPr/>
                    <a:lstStyle/>
                    <a:p>
                      <a:pPr algn="l">
                        <a:buNone/>
                      </a:pPr>
                      <a:r>
                        <a:rPr lang="en-IN" sz="2400" dirty="0"/>
                        <a:t>CIFAR-10CIFAR-100ImageNet</a:t>
                      </a:r>
                    </a:p>
                  </a:txBody>
                  <a:tcPr marL="16640" marR="16640" marT="8320" marB="8320"/>
                </a:tc>
                <a:extLst>
                  <a:ext uri="{0D108BD9-81ED-4DB2-BD59-A6C34878D82A}">
                    <a16:rowId xmlns:a16="http://schemas.microsoft.com/office/drawing/2014/main" val="1489477299"/>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75A4A040-5C37-C6AC-C2F2-919CD3F2E24B}"/>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3D2067CC-6F18-1877-45AF-DCDCF6F715A5}"/>
              </a:ext>
            </a:extLst>
          </p:cNvPr>
          <p:cNvSpPr txBox="1"/>
          <p:nvPr/>
        </p:nvSpPr>
        <p:spPr>
          <a:xfrm>
            <a:off x="2057400" y="448006"/>
            <a:ext cx="13851498" cy="1470787"/>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 Literature Survey</a:t>
            </a:r>
          </a:p>
        </p:txBody>
      </p:sp>
      <p:graphicFrame>
        <p:nvGraphicFramePr>
          <p:cNvPr id="2" name="Table 1">
            <a:extLst>
              <a:ext uri="{FF2B5EF4-FFF2-40B4-BE49-F238E27FC236}">
                <a16:creationId xmlns:a16="http://schemas.microsoft.com/office/drawing/2014/main" id="{A1FF3171-902F-7D87-1AB3-772101E7B383}"/>
              </a:ext>
            </a:extLst>
          </p:cNvPr>
          <p:cNvGraphicFramePr>
            <a:graphicFrameLocks noGrp="1"/>
          </p:cNvGraphicFramePr>
          <p:nvPr>
            <p:extLst>
              <p:ext uri="{D42A27DB-BD31-4B8C-83A1-F6EECF244321}">
                <p14:modId xmlns:p14="http://schemas.microsoft.com/office/powerpoint/2010/main" val="3363795986"/>
              </p:ext>
            </p:extLst>
          </p:nvPr>
        </p:nvGraphicFramePr>
        <p:xfrm>
          <a:off x="1367374" y="2247900"/>
          <a:ext cx="15231549" cy="6855700"/>
        </p:xfrm>
        <a:graphic>
          <a:graphicData uri="http://schemas.openxmlformats.org/drawingml/2006/table">
            <a:tbl>
              <a:tblPr>
                <a:tableStyleId>{616DA210-FB5B-4158-B5E0-FEB733F419BA}</a:tableStyleId>
              </a:tblPr>
              <a:tblGrid>
                <a:gridCol w="918626">
                  <a:extLst>
                    <a:ext uri="{9D8B030D-6E8A-4147-A177-3AD203B41FA5}">
                      <a16:colId xmlns:a16="http://schemas.microsoft.com/office/drawing/2014/main" val="18347851"/>
                    </a:ext>
                  </a:extLst>
                </a:gridCol>
                <a:gridCol w="2882923">
                  <a:extLst>
                    <a:ext uri="{9D8B030D-6E8A-4147-A177-3AD203B41FA5}">
                      <a16:colId xmlns:a16="http://schemas.microsoft.com/office/drawing/2014/main" val="2356111346"/>
                    </a:ext>
                  </a:extLst>
                </a:gridCol>
                <a:gridCol w="2438400">
                  <a:extLst>
                    <a:ext uri="{9D8B030D-6E8A-4147-A177-3AD203B41FA5}">
                      <a16:colId xmlns:a16="http://schemas.microsoft.com/office/drawing/2014/main" val="2211351061"/>
                    </a:ext>
                  </a:extLst>
                </a:gridCol>
                <a:gridCol w="3124200">
                  <a:extLst>
                    <a:ext uri="{9D8B030D-6E8A-4147-A177-3AD203B41FA5}">
                      <a16:colId xmlns:a16="http://schemas.microsoft.com/office/drawing/2014/main" val="1129817565"/>
                    </a:ext>
                  </a:extLst>
                </a:gridCol>
                <a:gridCol w="3352800">
                  <a:extLst>
                    <a:ext uri="{9D8B030D-6E8A-4147-A177-3AD203B41FA5}">
                      <a16:colId xmlns:a16="http://schemas.microsoft.com/office/drawing/2014/main" val="2680730039"/>
                    </a:ext>
                  </a:extLst>
                </a:gridCol>
                <a:gridCol w="2514600">
                  <a:extLst>
                    <a:ext uri="{9D8B030D-6E8A-4147-A177-3AD203B41FA5}">
                      <a16:colId xmlns:a16="http://schemas.microsoft.com/office/drawing/2014/main" val="2405239488"/>
                    </a:ext>
                  </a:extLst>
                </a:gridCol>
              </a:tblGrid>
              <a:tr h="838200">
                <a:tc>
                  <a:txBody>
                    <a:bodyPr/>
                    <a:lstStyle/>
                    <a:p>
                      <a:pPr marL="0" algn="l" defTabSz="914400" rtl="0" eaLnBrk="1" latinLnBrk="0" hangingPunct="1">
                        <a:buNone/>
                      </a:pPr>
                      <a:r>
                        <a:rPr lang="en-IN" sz="2400" b="1" kern="1200" dirty="0">
                          <a:solidFill>
                            <a:schemeClr val="tx1"/>
                          </a:solidFill>
                        </a:rPr>
                        <a:t>S. No</a:t>
                      </a:r>
                      <a:endParaRPr lang="en-IN" sz="2400" b="1" kern="1200" dirty="0">
                        <a:solidFill>
                          <a:schemeClr val="tx1"/>
                        </a:solidFill>
                        <a:latin typeface="+mn-lt"/>
                        <a:ea typeface="+mn-ea"/>
                        <a:cs typeface="+mn-cs"/>
                      </a:endParaRPr>
                    </a:p>
                  </a:txBody>
                  <a:tcPr/>
                </a:tc>
                <a:tc>
                  <a:txBody>
                    <a:bodyPr/>
                    <a:lstStyle/>
                    <a:p>
                      <a:pPr marL="0" algn="l" defTabSz="914400" rtl="0" eaLnBrk="1" latinLnBrk="0" hangingPunct="1">
                        <a:buNone/>
                      </a:pPr>
                      <a:r>
                        <a:rPr lang="en-IN" sz="2400" b="1" kern="1200" dirty="0">
                          <a:solidFill>
                            <a:schemeClr val="tx1"/>
                          </a:solidFill>
                        </a:rPr>
                        <a:t>Title</a:t>
                      </a:r>
                      <a:endParaRPr lang="en-IN" sz="2400" b="1" kern="1200" dirty="0">
                        <a:solidFill>
                          <a:schemeClr val="tx1"/>
                        </a:solidFill>
                        <a:latin typeface="+mn-lt"/>
                        <a:ea typeface="+mn-ea"/>
                        <a:cs typeface="+mn-cs"/>
                      </a:endParaRPr>
                    </a:p>
                  </a:txBody>
                  <a:tcPr/>
                </a:tc>
                <a:tc>
                  <a:txBody>
                    <a:bodyPr/>
                    <a:lstStyle/>
                    <a:p>
                      <a:pPr marL="0" algn="l" defTabSz="914400" rtl="0" eaLnBrk="1" latinLnBrk="0" hangingPunct="1">
                        <a:buNone/>
                      </a:pPr>
                      <a:r>
                        <a:rPr lang="en-IN" sz="2400" b="1" kern="1200">
                          <a:solidFill>
                            <a:schemeClr val="tx1"/>
                          </a:solidFill>
                        </a:rPr>
                        <a:t>Journal / Transaction</a:t>
                      </a:r>
                      <a:endParaRPr lang="en-IN" sz="2400" b="1" kern="1200">
                        <a:solidFill>
                          <a:schemeClr val="tx1"/>
                        </a:solidFill>
                        <a:latin typeface="+mn-lt"/>
                        <a:ea typeface="+mn-ea"/>
                        <a:cs typeface="+mn-cs"/>
                      </a:endParaRPr>
                    </a:p>
                  </a:txBody>
                  <a:tcPr/>
                </a:tc>
                <a:tc>
                  <a:txBody>
                    <a:bodyPr/>
                    <a:lstStyle/>
                    <a:p>
                      <a:pPr marL="0" algn="l" defTabSz="914400" rtl="0" eaLnBrk="1" latinLnBrk="0" hangingPunct="1">
                        <a:buNone/>
                      </a:pPr>
                      <a:r>
                        <a:rPr lang="en-IN" sz="2400" b="1" kern="1200" dirty="0">
                          <a:solidFill>
                            <a:schemeClr val="tx1"/>
                          </a:solidFill>
                        </a:rPr>
                        <a:t>Methodology</a:t>
                      </a:r>
                      <a:endParaRPr lang="en-IN" sz="2400" b="1" kern="1200" dirty="0">
                        <a:solidFill>
                          <a:schemeClr val="tx1"/>
                        </a:solidFill>
                        <a:latin typeface="+mn-lt"/>
                        <a:ea typeface="+mn-ea"/>
                        <a:cs typeface="+mn-cs"/>
                      </a:endParaRPr>
                    </a:p>
                  </a:txBody>
                  <a:tcPr/>
                </a:tc>
                <a:tc>
                  <a:txBody>
                    <a:bodyPr/>
                    <a:lstStyle/>
                    <a:p>
                      <a:pPr marL="0" algn="l" defTabSz="914400" rtl="0" eaLnBrk="1" latinLnBrk="0" hangingPunct="1">
                        <a:buNone/>
                      </a:pPr>
                      <a:r>
                        <a:rPr lang="en-IN" sz="2400" b="1" kern="1200" dirty="0">
                          <a:solidFill>
                            <a:schemeClr val="tx1"/>
                          </a:solidFill>
                        </a:rPr>
                        <a:t>Limitations</a:t>
                      </a:r>
                      <a:endParaRPr lang="en-IN" sz="2400" b="1" kern="1200" dirty="0">
                        <a:solidFill>
                          <a:schemeClr val="tx1"/>
                        </a:solidFill>
                        <a:latin typeface="+mn-lt"/>
                        <a:ea typeface="+mn-ea"/>
                        <a:cs typeface="+mn-cs"/>
                      </a:endParaRPr>
                    </a:p>
                  </a:txBody>
                  <a:tcPr/>
                </a:tc>
                <a:tc>
                  <a:txBody>
                    <a:bodyPr/>
                    <a:lstStyle/>
                    <a:p>
                      <a:pPr marL="0" algn="l" defTabSz="914400" rtl="0" eaLnBrk="1" latinLnBrk="0" hangingPunct="1">
                        <a:buNone/>
                      </a:pPr>
                      <a:r>
                        <a:rPr lang="en-IN" sz="2400" b="1" kern="1200" dirty="0">
                          <a:solidFill>
                            <a:schemeClr val="tx1"/>
                          </a:solidFill>
                        </a:rPr>
                        <a:t>Datasets Used</a:t>
                      </a:r>
                      <a:endParaRPr lang="en-IN" sz="2400" b="1" kern="1200" dirty="0">
                        <a:solidFill>
                          <a:schemeClr val="tx1"/>
                        </a:solidFill>
                        <a:latin typeface="+mn-lt"/>
                        <a:ea typeface="+mn-ea"/>
                        <a:cs typeface="+mn-cs"/>
                      </a:endParaRPr>
                    </a:p>
                  </a:txBody>
                  <a:tcPr/>
                </a:tc>
                <a:extLst>
                  <a:ext uri="{0D108BD9-81ED-4DB2-BD59-A6C34878D82A}">
                    <a16:rowId xmlns:a16="http://schemas.microsoft.com/office/drawing/2014/main" val="1088889388"/>
                  </a:ext>
                </a:extLst>
              </a:tr>
              <a:tr h="1981200">
                <a:tc>
                  <a:txBody>
                    <a:bodyPr/>
                    <a:lstStyle/>
                    <a:p>
                      <a:pPr marL="0" algn="l" defTabSz="914400" rtl="0" eaLnBrk="1" latinLnBrk="0" hangingPunct="1">
                        <a:buNone/>
                      </a:pPr>
                      <a:r>
                        <a:rPr lang="en-IN" sz="2400" b="1" kern="1200" dirty="0">
                          <a:solidFill>
                            <a:schemeClr val="tx1"/>
                          </a:solidFill>
                        </a:rPr>
                        <a:t>4</a:t>
                      </a:r>
                      <a:endParaRPr lang="en-IN" sz="2400" b="1" kern="1200" dirty="0">
                        <a:solidFill>
                          <a:schemeClr val="tx1"/>
                        </a:solidFill>
                        <a:latin typeface="+mn-lt"/>
                        <a:ea typeface="+mn-ea"/>
                        <a:cs typeface="+mn-cs"/>
                      </a:endParaRPr>
                    </a:p>
                  </a:txBody>
                  <a:tcPr/>
                </a:tc>
                <a:tc>
                  <a:txBody>
                    <a:bodyPr/>
                    <a:lstStyle/>
                    <a:p>
                      <a:pPr marL="0" algn="l" defTabSz="914400" rtl="0" eaLnBrk="1" latinLnBrk="0" hangingPunct="1">
                        <a:buNone/>
                      </a:pPr>
                      <a:r>
                        <a:rPr lang="en-US" sz="2400" b="0" kern="1200" dirty="0">
                          <a:solidFill>
                            <a:schemeClr val="tx1"/>
                          </a:solidFill>
                        </a:rPr>
                        <a:t>Robust and Communication-Efficient Federated Learning from Non-IID Data</a:t>
                      </a:r>
                      <a:endParaRPr lang="en-US" sz="2400" b="0" kern="1200" dirty="0">
                        <a:solidFill>
                          <a:schemeClr val="tx1"/>
                        </a:solidFill>
                        <a:latin typeface="+mn-lt"/>
                        <a:ea typeface="+mn-ea"/>
                        <a:cs typeface="+mn-cs"/>
                      </a:endParaRPr>
                    </a:p>
                  </a:txBody>
                  <a:tcPr/>
                </a:tc>
                <a:tc>
                  <a:txBody>
                    <a:bodyPr/>
                    <a:lstStyle/>
                    <a:p>
                      <a:pPr marL="0" algn="l" defTabSz="914400" rtl="0" eaLnBrk="1" latinLnBrk="0" hangingPunct="1">
                        <a:buNone/>
                      </a:pPr>
                      <a:r>
                        <a:rPr lang="en-US" sz="2400" b="0" kern="1200" dirty="0">
                          <a:solidFill>
                            <a:schemeClr val="tx1"/>
                          </a:solidFill>
                        </a:rPr>
                        <a:t>IEEE Transactions on Neural Networks and Learning Systems, 2021</a:t>
                      </a:r>
                      <a:endParaRPr lang="en-US" sz="2400" b="0" kern="1200" dirty="0">
                        <a:solidFill>
                          <a:schemeClr val="tx1"/>
                        </a:solidFill>
                        <a:latin typeface="+mn-lt"/>
                        <a:ea typeface="+mn-ea"/>
                        <a:cs typeface="+mn-cs"/>
                      </a:endParaRPr>
                    </a:p>
                  </a:txBody>
                  <a:tcPr/>
                </a:tc>
                <a:tc>
                  <a:txBody>
                    <a:bodyPr/>
                    <a:lstStyle/>
                    <a:p>
                      <a:pPr marL="0" algn="l" defTabSz="914400" rtl="0" eaLnBrk="1" latinLnBrk="0" hangingPunct="1">
                        <a:buNone/>
                      </a:pPr>
                      <a:r>
                        <a:rPr lang="en-US" sz="2400" b="0" kern="1200" dirty="0">
                          <a:solidFill>
                            <a:schemeClr val="tx1"/>
                          </a:solidFill>
                        </a:rPr>
                        <a:t>Combines gradient </a:t>
                      </a:r>
                      <a:r>
                        <a:rPr lang="en-US" sz="2400" b="0" kern="1200" dirty="0" err="1">
                          <a:solidFill>
                            <a:schemeClr val="tx1"/>
                          </a:solidFill>
                        </a:rPr>
                        <a:t>sparsification</a:t>
                      </a:r>
                      <a:r>
                        <a:rPr lang="en-US" sz="2400" b="0" kern="1200" dirty="0">
                          <a:solidFill>
                            <a:schemeClr val="tx1"/>
                          </a:solidFill>
                        </a:rPr>
                        <a:t> with error-feedback mechanisms</a:t>
                      </a:r>
                      <a:endParaRPr lang="en-US" sz="2400" b="0" kern="1200" dirty="0">
                        <a:solidFill>
                          <a:schemeClr val="tx1"/>
                        </a:solidFill>
                        <a:latin typeface="+mn-lt"/>
                        <a:ea typeface="+mn-ea"/>
                        <a:cs typeface="+mn-cs"/>
                      </a:endParaRPr>
                    </a:p>
                  </a:txBody>
                  <a:tcPr/>
                </a:tc>
                <a:tc>
                  <a:txBody>
                    <a:bodyPr/>
                    <a:lstStyle/>
                    <a:p>
                      <a:pPr marL="0" algn="l" defTabSz="914400" rtl="0" eaLnBrk="1" latinLnBrk="0" hangingPunct="1">
                        <a:buNone/>
                      </a:pPr>
                      <a:r>
                        <a:rPr lang="en-US" sz="2400" b="0" kern="1200" dirty="0">
                          <a:solidFill>
                            <a:schemeClr val="tx1"/>
                          </a:solidFill>
                        </a:rPr>
                        <a:t>• Focused mainly on federated learning</a:t>
                      </a:r>
                    </a:p>
                    <a:p>
                      <a:pPr marL="0" algn="l" defTabSz="914400" rtl="0" eaLnBrk="1" latinLnBrk="0" hangingPunct="1">
                        <a:buNone/>
                      </a:pPr>
                      <a:r>
                        <a:rPr lang="en-US" sz="2400" b="0" kern="1200" dirty="0">
                          <a:solidFill>
                            <a:schemeClr val="tx1"/>
                          </a:solidFill>
                        </a:rPr>
                        <a:t>• Limited vision-based evaluation</a:t>
                      </a:r>
                      <a:endParaRPr lang="en-US" sz="2400" b="0" kern="1200" dirty="0">
                        <a:solidFill>
                          <a:schemeClr val="tx1"/>
                        </a:solidFill>
                        <a:latin typeface="+mn-lt"/>
                        <a:ea typeface="+mn-ea"/>
                        <a:cs typeface="+mn-cs"/>
                      </a:endParaRPr>
                    </a:p>
                  </a:txBody>
                  <a:tcPr/>
                </a:tc>
                <a:tc>
                  <a:txBody>
                    <a:bodyPr/>
                    <a:lstStyle/>
                    <a:p>
                      <a:pPr marL="0" algn="l" defTabSz="914400" rtl="0" eaLnBrk="1" latinLnBrk="0" hangingPunct="1">
                        <a:buNone/>
                      </a:pPr>
                      <a:r>
                        <a:rPr lang="en-IN" sz="2400" b="0" kern="1200" dirty="0">
                          <a:solidFill>
                            <a:schemeClr val="tx1"/>
                          </a:solidFill>
                        </a:rPr>
                        <a:t>MNISTCIFAR-10</a:t>
                      </a:r>
                      <a:endParaRPr lang="en-IN" sz="2400" b="0" kern="1200" dirty="0">
                        <a:solidFill>
                          <a:schemeClr val="tx1"/>
                        </a:solidFill>
                        <a:latin typeface="+mn-lt"/>
                        <a:ea typeface="+mn-ea"/>
                        <a:cs typeface="+mn-cs"/>
                      </a:endParaRPr>
                    </a:p>
                  </a:txBody>
                  <a:tcPr/>
                </a:tc>
                <a:extLst>
                  <a:ext uri="{0D108BD9-81ED-4DB2-BD59-A6C34878D82A}">
                    <a16:rowId xmlns:a16="http://schemas.microsoft.com/office/drawing/2014/main" val="579631882"/>
                  </a:ext>
                </a:extLst>
              </a:tr>
              <a:tr h="1981200">
                <a:tc>
                  <a:txBody>
                    <a:bodyPr/>
                    <a:lstStyle/>
                    <a:p>
                      <a:pPr marL="0" algn="l" defTabSz="914400" rtl="0" eaLnBrk="1" latinLnBrk="0" hangingPunct="1">
                        <a:buNone/>
                      </a:pPr>
                      <a:r>
                        <a:rPr lang="en-IN" sz="2400" b="1" kern="1200" dirty="0">
                          <a:solidFill>
                            <a:schemeClr val="tx1"/>
                          </a:solidFill>
                        </a:rPr>
                        <a:t>5</a:t>
                      </a:r>
                      <a:endParaRPr lang="en-IN" sz="2400" b="1" kern="1200" dirty="0">
                        <a:solidFill>
                          <a:schemeClr val="tx1"/>
                        </a:solidFill>
                        <a:latin typeface="+mn-lt"/>
                        <a:ea typeface="+mn-ea"/>
                        <a:cs typeface="+mn-cs"/>
                      </a:endParaRPr>
                    </a:p>
                  </a:txBody>
                  <a:tcPr/>
                </a:tc>
                <a:tc>
                  <a:txBody>
                    <a:bodyPr/>
                    <a:lstStyle/>
                    <a:p>
                      <a:pPr marL="0" algn="l" defTabSz="914400" rtl="0" eaLnBrk="1" latinLnBrk="0" hangingPunct="1">
                        <a:buNone/>
                      </a:pPr>
                      <a:r>
                        <a:rPr lang="en-US" sz="2400" b="0" kern="1200" dirty="0" err="1">
                          <a:solidFill>
                            <a:schemeClr val="tx1"/>
                          </a:solidFill>
                        </a:rPr>
                        <a:t>ScaleCom</a:t>
                      </a:r>
                      <a:r>
                        <a:rPr lang="en-US" sz="2400" b="0" kern="1200" dirty="0">
                          <a:solidFill>
                            <a:schemeClr val="tx1"/>
                          </a:solidFill>
                        </a:rPr>
                        <a:t>: Scalable </a:t>
                      </a:r>
                      <a:r>
                        <a:rPr lang="en-US" sz="2400" b="0" kern="1200" dirty="0" err="1">
                          <a:solidFill>
                            <a:schemeClr val="tx1"/>
                          </a:solidFill>
                        </a:rPr>
                        <a:t>Sparsified</a:t>
                      </a:r>
                      <a:r>
                        <a:rPr lang="en-US" sz="2400" b="0" kern="1200" dirty="0">
                          <a:solidFill>
                            <a:schemeClr val="tx1"/>
                          </a:solidFill>
                        </a:rPr>
                        <a:t> Gradient Compression for Distributed Training</a:t>
                      </a:r>
                      <a:endParaRPr lang="en-US" sz="2400" b="0" kern="1200" dirty="0">
                        <a:solidFill>
                          <a:schemeClr val="tx1"/>
                        </a:solidFill>
                        <a:latin typeface="+mn-lt"/>
                        <a:ea typeface="+mn-ea"/>
                        <a:cs typeface="+mn-cs"/>
                      </a:endParaRPr>
                    </a:p>
                  </a:txBody>
                  <a:tcPr/>
                </a:tc>
                <a:tc>
                  <a:txBody>
                    <a:bodyPr/>
                    <a:lstStyle/>
                    <a:p>
                      <a:pPr marL="0" algn="l" defTabSz="914400" rtl="0" eaLnBrk="1" latinLnBrk="0" hangingPunct="1">
                        <a:buNone/>
                      </a:pPr>
                      <a:r>
                        <a:rPr lang="en-US" sz="2400" b="0" kern="1200" dirty="0">
                          <a:solidFill>
                            <a:schemeClr val="tx1"/>
                          </a:solidFill>
                        </a:rPr>
                        <a:t>IEEE Transactions on Parallel and Distributed Systems, 2020</a:t>
                      </a:r>
                      <a:endParaRPr lang="en-US" sz="2400" b="0" kern="1200" dirty="0">
                        <a:solidFill>
                          <a:schemeClr val="tx1"/>
                        </a:solidFill>
                        <a:latin typeface="+mn-lt"/>
                        <a:ea typeface="+mn-ea"/>
                        <a:cs typeface="+mn-cs"/>
                      </a:endParaRPr>
                    </a:p>
                  </a:txBody>
                  <a:tcPr/>
                </a:tc>
                <a:tc>
                  <a:txBody>
                    <a:bodyPr/>
                    <a:lstStyle/>
                    <a:p>
                      <a:pPr marL="0" algn="l" defTabSz="914400" rtl="0" eaLnBrk="1" latinLnBrk="0" hangingPunct="1">
                        <a:buNone/>
                      </a:pPr>
                      <a:r>
                        <a:rPr lang="en-US" sz="2400" b="0" kern="1200" dirty="0">
                          <a:solidFill>
                            <a:schemeClr val="tx1"/>
                          </a:solidFill>
                        </a:rPr>
                        <a:t>Scalable gradient </a:t>
                      </a:r>
                      <a:r>
                        <a:rPr lang="en-US" sz="2400" b="0" kern="1200" dirty="0" err="1">
                          <a:solidFill>
                            <a:schemeClr val="tx1"/>
                          </a:solidFill>
                        </a:rPr>
                        <a:t>sparsification</a:t>
                      </a:r>
                      <a:r>
                        <a:rPr lang="en-US" sz="2400" b="0" kern="1200" dirty="0">
                          <a:solidFill>
                            <a:schemeClr val="tx1"/>
                          </a:solidFill>
                        </a:rPr>
                        <a:t> for large distributed clusters</a:t>
                      </a:r>
                      <a:endParaRPr lang="en-US" sz="2400" b="0" kern="1200" dirty="0">
                        <a:solidFill>
                          <a:schemeClr val="tx1"/>
                        </a:solidFill>
                        <a:latin typeface="+mn-lt"/>
                        <a:ea typeface="+mn-ea"/>
                        <a:cs typeface="+mn-cs"/>
                      </a:endParaRPr>
                    </a:p>
                  </a:txBody>
                  <a:tcPr/>
                </a:tc>
                <a:tc>
                  <a:txBody>
                    <a:bodyPr/>
                    <a:lstStyle/>
                    <a:p>
                      <a:pPr marL="0" algn="l" defTabSz="914400" rtl="0" eaLnBrk="1" latinLnBrk="0" hangingPunct="1">
                        <a:buNone/>
                      </a:pPr>
                      <a:r>
                        <a:rPr lang="en-US" sz="2400" b="0" kern="1200" dirty="0">
                          <a:solidFill>
                            <a:schemeClr val="tx1"/>
                          </a:solidFill>
                        </a:rPr>
                        <a:t>• Sensitive to sparsity level</a:t>
                      </a:r>
                    </a:p>
                    <a:p>
                      <a:pPr marL="0" algn="l" defTabSz="914400" rtl="0" eaLnBrk="1" latinLnBrk="0" hangingPunct="1">
                        <a:buNone/>
                      </a:pPr>
                      <a:r>
                        <a:rPr lang="en-US" sz="2400" b="0" kern="1200" dirty="0">
                          <a:solidFill>
                            <a:schemeClr val="tx1"/>
                          </a:solidFill>
                        </a:rPr>
                        <a:t>• Less effective for dense gradients</a:t>
                      </a:r>
                      <a:endParaRPr lang="en-US" sz="2400" b="0" kern="1200" dirty="0">
                        <a:solidFill>
                          <a:schemeClr val="tx1"/>
                        </a:solidFill>
                        <a:latin typeface="+mn-lt"/>
                        <a:ea typeface="+mn-ea"/>
                        <a:cs typeface="+mn-cs"/>
                      </a:endParaRPr>
                    </a:p>
                  </a:txBody>
                  <a:tcPr/>
                </a:tc>
                <a:tc>
                  <a:txBody>
                    <a:bodyPr/>
                    <a:lstStyle/>
                    <a:p>
                      <a:pPr marL="0" algn="l" defTabSz="914400" rtl="0" eaLnBrk="1" latinLnBrk="0" hangingPunct="1">
                        <a:buNone/>
                      </a:pPr>
                      <a:r>
                        <a:rPr lang="en-IN" sz="2400" b="0" kern="1200" dirty="0">
                          <a:solidFill>
                            <a:schemeClr val="tx1"/>
                          </a:solidFill>
                        </a:rPr>
                        <a:t>CIFAR-10ImageNet</a:t>
                      </a:r>
                      <a:endParaRPr lang="en-IN" sz="2400" b="0" kern="1200" dirty="0">
                        <a:solidFill>
                          <a:schemeClr val="tx1"/>
                        </a:solidFill>
                        <a:latin typeface="+mn-lt"/>
                        <a:ea typeface="+mn-ea"/>
                        <a:cs typeface="+mn-cs"/>
                      </a:endParaRPr>
                    </a:p>
                  </a:txBody>
                  <a:tcPr/>
                </a:tc>
                <a:extLst>
                  <a:ext uri="{0D108BD9-81ED-4DB2-BD59-A6C34878D82A}">
                    <a16:rowId xmlns:a16="http://schemas.microsoft.com/office/drawing/2014/main" val="595943320"/>
                  </a:ext>
                </a:extLst>
              </a:tr>
              <a:tr h="2055100">
                <a:tc>
                  <a:txBody>
                    <a:bodyPr/>
                    <a:lstStyle/>
                    <a:p>
                      <a:pPr marL="0" algn="l" defTabSz="914400" rtl="0" eaLnBrk="1" latinLnBrk="0" hangingPunct="1">
                        <a:buNone/>
                      </a:pPr>
                      <a:r>
                        <a:rPr lang="en-IN" sz="2400" b="1" kern="1200" dirty="0">
                          <a:solidFill>
                            <a:schemeClr val="tx1"/>
                          </a:solidFill>
                        </a:rPr>
                        <a:t>6</a:t>
                      </a:r>
                      <a:endParaRPr lang="en-IN" sz="2400" b="1" kern="1200" dirty="0">
                        <a:solidFill>
                          <a:schemeClr val="tx1"/>
                        </a:solidFill>
                        <a:latin typeface="+mn-lt"/>
                        <a:ea typeface="+mn-ea"/>
                        <a:cs typeface="+mn-cs"/>
                      </a:endParaRPr>
                    </a:p>
                  </a:txBody>
                  <a:tcPr/>
                </a:tc>
                <a:tc>
                  <a:txBody>
                    <a:bodyPr/>
                    <a:lstStyle/>
                    <a:p>
                      <a:pPr marL="0" algn="l" defTabSz="914400" rtl="0" eaLnBrk="1" latinLnBrk="0" hangingPunct="1">
                        <a:buNone/>
                      </a:pPr>
                      <a:r>
                        <a:rPr lang="en-US" sz="2400" b="0" kern="1200">
                          <a:solidFill>
                            <a:schemeClr val="tx1"/>
                          </a:solidFill>
                        </a:rPr>
                        <a:t>Cloud Deep Networks for Hyperspectral Image Analysis</a:t>
                      </a:r>
                      <a:endParaRPr lang="en-US" sz="2400" b="0" kern="1200">
                        <a:solidFill>
                          <a:schemeClr val="tx1"/>
                        </a:solidFill>
                        <a:latin typeface="+mn-lt"/>
                        <a:ea typeface="+mn-ea"/>
                        <a:cs typeface="+mn-cs"/>
                      </a:endParaRPr>
                    </a:p>
                  </a:txBody>
                  <a:tcPr/>
                </a:tc>
                <a:tc>
                  <a:txBody>
                    <a:bodyPr/>
                    <a:lstStyle/>
                    <a:p>
                      <a:pPr marL="0" algn="l" defTabSz="914400" rtl="0" eaLnBrk="1" latinLnBrk="0" hangingPunct="1">
                        <a:buNone/>
                      </a:pPr>
                      <a:r>
                        <a:rPr lang="en-US" sz="2400" b="0" kern="1200">
                          <a:solidFill>
                            <a:schemeClr val="tx1"/>
                          </a:solidFill>
                        </a:rPr>
                        <a:t>IEEE Transactions on Geoscience and Remote Sensing, 2020</a:t>
                      </a:r>
                      <a:endParaRPr lang="en-US" sz="2400" b="0" kern="1200">
                        <a:solidFill>
                          <a:schemeClr val="tx1"/>
                        </a:solidFill>
                        <a:latin typeface="+mn-lt"/>
                        <a:ea typeface="+mn-ea"/>
                        <a:cs typeface="+mn-cs"/>
                      </a:endParaRPr>
                    </a:p>
                  </a:txBody>
                  <a:tcPr/>
                </a:tc>
                <a:tc>
                  <a:txBody>
                    <a:bodyPr/>
                    <a:lstStyle/>
                    <a:p>
                      <a:pPr marL="0" algn="l" defTabSz="914400" rtl="0" eaLnBrk="1" latinLnBrk="0" hangingPunct="1">
                        <a:buNone/>
                      </a:pPr>
                      <a:r>
                        <a:rPr lang="en-US" sz="2400" b="0" kern="1200" dirty="0">
                          <a:solidFill>
                            <a:schemeClr val="tx1"/>
                          </a:solidFill>
                        </a:rPr>
                        <a:t>Cloud-based distributed deep learning for hyperspectral data</a:t>
                      </a:r>
                      <a:endParaRPr lang="en-US" sz="2400" b="0" kern="1200" dirty="0">
                        <a:solidFill>
                          <a:schemeClr val="tx1"/>
                        </a:solidFill>
                        <a:latin typeface="+mn-lt"/>
                        <a:ea typeface="+mn-ea"/>
                        <a:cs typeface="+mn-cs"/>
                      </a:endParaRPr>
                    </a:p>
                  </a:txBody>
                  <a:tcPr/>
                </a:tc>
                <a:tc>
                  <a:txBody>
                    <a:bodyPr/>
                    <a:lstStyle/>
                    <a:p>
                      <a:pPr marL="0" algn="l" defTabSz="914400" rtl="0" eaLnBrk="1" latinLnBrk="0" hangingPunct="1">
                        <a:buNone/>
                      </a:pPr>
                      <a:r>
                        <a:rPr lang="en-US" sz="2400" b="0" kern="1200" dirty="0">
                          <a:solidFill>
                            <a:schemeClr val="tx1"/>
                          </a:solidFill>
                        </a:rPr>
                        <a:t>• High latency due to cloud dependency</a:t>
                      </a:r>
                    </a:p>
                    <a:p>
                      <a:pPr marL="0" algn="l" defTabSz="914400" rtl="0" eaLnBrk="1" latinLnBrk="0" hangingPunct="1">
                        <a:buNone/>
                      </a:pPr>
                      <a:r>
                        <a:rPr lang="en-US" sz="2400" b="0" kern="1200" dirty="0">
                          <a:solidFill>
                            <a:schemeClr val="tx1"/>
                          </a:solidFill>
                        </a:rPr>
                        <a:t>• Not suitable for edge deployment</a:t>
                      </a:r>
                      <a:endParaRPr lang="en-US" sz="2400" b="0" kern="1200" dirty="0">
                        <a:solidFill>
                          <a:schemeClr val="tx1"/>
                        </a:solidFill>
                        <a:latin typeface="+mn-lt"/>
                        <a:ea typeface="+mn-ea"/>
                        <a:cs typeface="+mn-cs"/>
                      </a:endParaRPr>
                    </a:p>
                  </a:txBody>
                  <a:tcPr/>
                </a:tc>
                <a:tc>
                  <a:txBody>
                    <a:bodyPr/>
                    <a:lstStyle/>
                    <a:p>
                      <a:pPr marL="0" algn="l" defTabSz="914400" rtl="0" eaLnBrk="1" latinLnBrk="0" hangingPunct="1">
                        <a:buNone/>
                      </a:pPr>
                      <a:r>
                        <a:rPr lang="en-IN" sz="2400" b="0" kern="1200" dirty="0">
                          <a:solidFill>
                            <a:schemeClr val="tx1"/>
                          </a:solidFill>
                        </a:rPr>
                        <a:t>SVHNSTL-10</a:t>
                      </a:r>
                      <a:endParaRPr lang="en-IN" sz="2400" b="0" kern="1200" dirty="0">
                        <a:solidFill>
                          <a:schemeClr val="tx1"/>
                        </a:solidFill>
                        <a:latin typeface="+mn-lt"/>
                        <a:ea typeface="+mn-ea"/>
                        <a:cs typeface="+mn-cs"/>
                      </a:endParaRPr>
                    </a:p>
                  </a:txBody>
                  <a:tcPr/>
                </a:tc>
                <a:extLst>
                  <a:ext uri="{0D108BD9-81ED-4DB2-BD59-A6C34878D82A}">
                    <a16:rowId xmlns:a16="http://schemas.microsoft.com/office/drawing/2014/main" val="2887796580"/>
                  </a:ext>
                </a:extLst>
              </a:tr>
            </a:tbl>
          </a:graphicData>
        </a:graphic>
      </p:graphicFrame>
    </p:spTree>
    <p:extLst>
      <p:ext uri="{BB962C8B-B14F-4D97-AF65-F5344CB8AC3E}">
        <p14:creationId xmlns:p14="http://schemas.microsoft.com/office/powerpoint/2010/main" val="3231618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B9AA42AE-2745-C7BB-4049-1DC4E843FDB1}"/>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2AD4FDFF-E3DE-720B-CA72-407573B66178}"/>
              </a:ext>
            </a:extLst>
          </p:cNvPr>
          <p:cNvSpPr txBox="1"/>
          <p:nvPr/>
        </p:nvSpPr>
        <p:spPr>
          <a:xfrm>
            <a:off x="2133600" y="367691"/>
            <a:ext cx="13851498" cy="1470787"/>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 Literature Survey</a:t>
            </a:r>
          </a:p>
        </p:txBody>
      </p:sp>
      <p:graphicFrame>
        <p:nvGraphicFramePr>
          <p:cNvPr id="3" name="Table 2">
            <a:extLst>
              <a:ext uri="{FF2B5EF4-FFF2-40B4-BE49-F238E27FC236}">
                <a16:creationId xmlns:a16="http://schemas.microsoft.com/office/drawing/2014/main" id="{9A7E8FF8-E76E-457A-2E8E-33B1D53F7292}"/>
              </a:ext>
            </a:extLst>
          </p:cNvPr>
          <p:cNvGraphicFramePr>
            <a:graphicFrameLocks noGrp="1"/>
          </p:cNvGraphicFramePr>
          <p:nvPr>
            <p:extLst>
              <p:ext uri="{D42A27DB-BD31-4B8C-83A1-F6EECF244321}">
                <p14:modId xmlns:p14="http://schemas.microsoft.com/office/powerpoint/2010/main" val="3562696072"/>
              </p:ext>
            </p:extLst>
          </p:nvPr>
        </p:nvGraphicFramePr>
        <p:xfrm>
          <a:off x="1371600" y="2247900"/>
          <a:ext cx="15240000" cy="6666880"/>
        </p:xfrm>
        <a:graphic>
          <a:graphicData uri="http://schemas.openxmlformats.org/drawingml/2006/table">
            <a:tbl>
              <a:tblPr>
                <a:tableStyleId>{616DA210-FB5B-4158-B5E0-FEB733F419BA}</a:tableStyleId>
              </a:tblPr>
              <a:tblGrid>
                <a:gridCol w="914400">
                  <a:extLst>
                    <a:ext uri="{9D8B030D-6E8A-4147-A177-3AD203B41FA5}">
                      <a16:colId xmlns:a16="http://schemas.microsoft.com/office/drawing/2014/main" val="3802815442"/>
                    </a:ext>
                  </a:extLst>
                </a:gridCol>
                <a:gridCol w="2971800">
                  <a:extLst>
                    <a:ext uri="{9D8B030D-6E8A-4147-A177-3AD203B41FA5}">
                      <a16:colId xmlns:a16="http://schemas.microsoft.com/office/drawing/2014/main" val="1401895975"/>
                    </a:ext>
                  </a:extLst>
                </a:gridCol>
                <a:gridCol w="2819400">
                  <a:extLst>
                    <a:ext uri="{9D8B030D-6E8A-4147-A177-3AD203B41FA5}">
                      <a16:colId xmlns:a16="http://schemas.microsoft.com/office/drawing/2014/main" val="2835806950"/>
                    </a:ext>
                  </a:extLst>
                </a:gridCol>
                <a:gridCol w="2895600">
                  <a:extLst>
                    <a:ext uri="{9D8B030D-6E8A-4147-A177-3AD203B41FA5}">
                      <a16:colId xmlns:a16="http://schemas.microsoft.com/office/drawing/2014/main" val="270154654"/>
                    </a:ext>
                  </a:extLst>
                </a:gridCol>
                <a:gridCol w="3124200">
                  <a:extLst>
                    <a:ext uri="{9D8B030D-6E8A-4147-A177-3AD203B41FA5}">
                      <a16:colId xmlns:a16="http://schemas.microsoft.com/office/drawing/2014/main" val="1318372839"/>
                    </a:ext>
                  </a:extLst>
                </a:gridCol>
                <a:gridCol w="2514600">
                  <a:extLst>
                    <a:ext uri="{9D8B030D-6E8A-4147-A177-3AD203B41FA5}">
                      <a16:colId xmlns:a16="http://schemas.microsoft.com/office/drawing/2014/main" val="2244170702"/>
                    </a:ext>
                  </a:extLst>
                </a:gridCol>
              </a:tblGrid>
              <a:tr h="335842">
                <a:tc>
                  <a:txBody>
                    <a:bodyPr/>
                    <a:lstStyle/>
                    <a:p>
                      <a:pPr>
                        <a:buNone/>
                      </a:pPr>
                      <a:r>
                        <a:rPr lang="en-IN" sz="2400" b="1"/>
                        <a:t>S. No</a:t>
                      </a:r>
                      <a:endParaRPr lang="en-IN" sz="2400"/>
                    </a:p>
                  </a:txBody>
                  <a:tcPr marL="16640" marR="16640" marT="8320" marB="8320" anchor="ctr"/>
                </a:tc>
                <a:tc>
                  <a:txBody>
                    <a:bodyPr/>
                    <a:lstStyle/>
                    <a:p>
                      <a:pPr>
                        <a:buNone/>
                      </a:pPr>
                      <a:r>
                        <a:rPr lang="en-IN" sz="2400" b="1" dirty="0"/>
                        <a:t>Title</a:t>
                      </a:r>
                      <a:endParaRPr lang="en-IN" sz="2400" dirty="0"/>
                    </a:p>
                  </a:txBody>
                  <a:tcPr marL="16640" marR="16640" marT="8320" marB="8320" anchor="ctr"/>
                </a:tc>
                <a:tc>
                  <a:txBody>
                    <a:bodyPr/>
                    <a:lstStyle/>
                    <a:p>
                      <a:pPr>
                        <a:buNone/>
                      </a:pPr>
                      <a:r>
                        <a:rPr lang="en-IN" sz="2400" b="1"/>
                        <a:t>Journal / Transaction</a:t>
                      </a:r>
                      <a:endParaRPr lang="en-IN" sz="2400"/>
                    </a:p>
                  </a:txBody>
                  <a:tcPr marL="16640" marR="16640" marT="8320" marB="8320" anchor="ctr"/>
                </a:tc>
                <a:tc>
                  <a:txBody>
                    <a:bodyPr/>
                    <a:lstStyle/>
                    <a:p>
                      <a:pPr>
                        <a:buNone/>
                      </a:pPr>
                      <a:r>
                        <a:rPr lang="en-IN" sz="2400" b="1" dirty="0"/>
                        <a:t>Methodology</a:t>
                      </a:r>
                      <a:endParaRPr lang="en-IN" sz="2400" dirty="0"/>
                    </a:p>
                  </a:txBody>
                  <a:tcPr marL="16640" marR="16640" marT="8320" marB="8320" anchor="ctr"/>
                </a:tc>
                <a:tc>
                  <a:txBody>
                    <a:bodyPr/>
                    <a:lstStyle/>
                    <a:p>
                      <a:pPr>
                        <a:buNone/>
                      </a:pPr>
                      <a:r>
                        <a:rPr lang="en-IN" sz="2400" b="1"/>
                        <a:t>Limitations</a:t>
                      </a:r>
                      <a:endParaRPr lang="en-IN" sz="2400"/>
                    </a:p>
                  </a:txBody>
                  <a:tcPr marL="16640" marR="16640" marT="8320" marB="8320" anchor="ctr"/>
                </a:tc>
                <a:tc>
                  <a:txBody>
                    <a:bodyPr/>
                    <a:lstStyle/>
                    <a:p>
                      <a:pPr>
                        <a:buNone/>
                      </a:pPr>
                      <a:r>
                        <a:rPr lang="en-IN" sz="2400" b="1"/>
                        <a:t>Datasets Used</a:t>
                      </a:r>
                      <a:endParaRPr lang="en-IN" sz="2400"/>
                    </a:p>
                  </a:txBody>
                  <a:tcPr marL="16640" marR="16640" marT="8320" marB="8320" anchor="ctr"/>
                </a:tc>
                <a:extLst>
                  <a:ext uri="{0D108BD9-81ED-4DB2-BD59-A6C34878D82A}">
                    <a16:rowId xmlns:a16="http://schemas.microsoft.com/office/drawing/2014/main" val="1410948585"/>
                  </a:ext>
                </a:extLst>
              </a:tr>
              <a:tr h="321749">
                <a:tc>
                  <a:txBody>
                    <a:bodyPr/>
                    <a:lstStyle/>
                    <a:p>
                      <a:pPr>
                        <a:buNone/>
                      </a:pPr>
                      <a:r>
                        <a:rPr lang="en-IN" sz="2400" b="1" dirty="0"/>
                        <a:t>7</a:t>
                      </a:r>
                      <a:endParaRPr lang="en-IN" sz="2400" dirty="0"/>
                    </a:p>
                  </a:txBody>
                  <a:tcPr marL="16640" marR="16640" marT="8320" marB="8320" anchor="ctr"/>
                </a:tc>
                <a:tc>
                  <a:txBody>
                    <a:bodyPr/>
                    <a:lstStyle/>
                    <a:p>
                      <a:pPr>
                        <a:buNone/>
                      </a:pPr>
                      <a:r>
                        <a:rPr lang="en-US" sz="2400"/>
                        <a:t>Communication-Efficient SGD via Gradient Sampling with Bayesian Prior</a:t>
                      </a:r>
                    </a:p>
                  </a:txBody>
                  <a:tcPr marL="16640" marR="16640" marT="8320" marB="8320" anchor="ctr"/>
                </a:tc>
                <a:tc>
                  <a:txBody>
                    <a:bodyPr/>
                    <a:lstStyle/>
                    <a:p>
                      <a:pPr>
                        <a:buNone/>
                      </a:pPr>
                      <a:r>
                        <a:rPr lang="en-IN" sz="2400"/>
                        <a:t>IEEE Transactions on Pattern Analysis and Machine Intelligence, 2021</a:t>
                      </a:r>
                    </a:p>
                  </a:txBody>
                  <a:tcPr marL="16640" marR="16640" marT="8320" marB="8320" anchor="ctr"/>
                </a:tc>
                <a:tc>
                  <a:txBody>
                    <a:bodyPr/>
                    <a:lstStyle/>
                    <a:p>
                      <a:pPr>
                        <a:buNone/>
                      </a:pPr>
                      <a:r>
                        <a:rPr lang="en-US" sz="2400"/>
                        <a:t>Probabilistic gradient sampling using Bayesian priors</a:t>
                      </a:r>
                    </a:p>
                  </a:txBody>
                  <a:tcPr marL="16640" marR="16640" marT="8320" marB="8320" anchor="ctr"/>
                </a:tc>
                <a:tc>
                  <a:txBody>
                    <a:bodyPr/>
                    <a:lstStyle/>
                    <a:p>
                      <a:pPr>
                        <a:buNone/>
                      </a:pPr>
                      <a:r>
                        <a:rPr lang="en-US" sz="2400" dirty="0"/>
                        <a:t>• Sampling bias affects convergence</a:t>
                      </a:r>
                    </a:p>
                    <a:p>
                      <a:pPr>
                        <a:buNone/>
                      </a:pPr>
                      <a:r>
                        <a:rPr lang="en-US" sz="2400" dirty="0"/>
                        <a:t>• Computationally expensive</a:t>
                      </a:r>
                    </a:p>
                  </a:txBody>
                  <a:tcPr marL="16640" marR="16640" marT="8320" marB="8320" anchor="ctr"/>
                </a:tc>
                <a:tc>
                  <a:txBody>
                    <a:bodyPr/>
                    <a:lstStyle/>
                    <a:p>
                      <a:pPr>
                        <a:buNone/>
                      </a:pPr>
                      <a:r>
                        <a:rPr lang="en-IN" sz="2400" dirty="0"/>
                        <a:t>ImageNet-21KImageNet</a:t>
                      </a:r>
                    </a:p>
                  </a:txBody>
                  <a:tcPr marL="16640" marR="16640" marT="8320" marB="8320" anchor="ctr"/>
                </a:tc>
                <a:extLst>
                  <a:ext uri="{0D108BD9-81ED-4DB2-BD59-A6C34878D82A}">
                    <a16:rowId xmlns:a16="http://schemas.microsoft.com/office/drawing/2014/main" val="3280136642"/>
                  </a:ext>
                </a:extLst>
              </a:tr>
              <a:tr h="362707">
                <a:tc>
                  <a:txBody>
                    <a:bodyPr/>
                    <a:lstStyle/>
                    <a:p>
                      <a:pPr>
                        <a:buNone/>
                      </a:pPr>
                      <a:r>
                        <a:rPr lang="en-IN" sz="2400" b="1"/>
                        <a:t>8</a:t>
                      </a:r>
                      <a:endParaRPr lang="en-IN" sz="2400"/>
                    </a:p>
                  </a:txBody>
                  <a:tcPr marL="16640" marR="16640" marT="8320" marB="8320" anchor="ctr"/>
                </a:tc>
                <a:tc>
                  <a:txBody>
                    <a:bodyPr/>
                    <a:lstStyle/>
                    <a:p>
                      <a:pPr>
                        <a:buNone/>
                      </a:pPr>
                      <a:r>
                        <a:rPr lang="en-US" sz="2400"/>
                        <a:t>Joint Sparsification and Quantization for Distributed Learning</a:t>
                      </a:r>
                    </a:p>
                  </a:txBody>
                  <a:tcPr marL="16640" marR="16640" marT="8320" marB="8320" anchor="ctr"/>
                </a:tc>
                <a:tc>
                  <a:txBody>
                    <a:bodyPr/>
                    <a:lstStyle/>
                    <a:p>
                      <a:pPr>
                        <a:buNone/>
                      </a:pPr>
                      <a:r>
                        <a:rPr lang="en-US" sz="2400"/>
                        <a:t>IEEE Transactions on Neural Networks and Learning Systems, 2024</a:t>
                      </a:r>
                    </a:p>
                  </a:txBody>
                  <a:tcPr marL="16640" marR="16640" marT="8320" marB="8320" anchor="ctr"/>
                </a:tc>
                <a:tc>
                  <a:txBody>
                    <a:bodyPr/>
                    <a:lstStyle/>
                    <a:p>
                      <a:pPr>
                        <a:buNone/>
                      </a:pPr>
                      <a:r>
                        <a:rPr lang="en-IN" sz="2400" dirty="0"/>
                        <a:t>Joint gradient </a:t>
                      </a:r>
                      <a:r>
                        <a:rPr lang="en-IN" sz="2400" dirty="0" err="1"/>
                        <a:t>sparsification</a:t>
                      </a:r>
                      <a:r>
                        <a:rPr lang="en-IN" sz="2400" dirty="0"/>
                        <a:t> and quantization</a:t>
                      </a:r>
                    </a:p>
                  </a:txBody>
                  <a:tcPr marL="16640" marR="16640" marT="8320" marB="8320" anchor="ctr"/>
                </a:tc>
                <a:tc>
                  <a:txBody>
                    <a:bodyPr/>
                    <a:lstStyle/>
                    <a:p>
                      <a:pPr>
                        <a:buNone/>
                      </a:pPr>
                      <a:r>
                        <a:rPr lang="en-US" sz="2400" dirty="0"/>
                        <a:t>• Increased algorithmic complexity</a:t>
                      </a:r>
                    </a:p>
                    <a:p>
                      <a:pPr>
                        <a:buNone/>
                      </a:pPr>
                      <a:r>
                        <a:rPr lang="en-US" sz="2400" dirty="0"/>
                        <a:t>• Requires careful hyperparameter tuning</a:t>
                      </a:r>
                    </a:p>
                  </a:txBody>
                  <a:tcPr marL="16640" marR="16640" marT="8320" marB="8320" anchor="ctr"/>
                </a:tc>
                <a:tc>
                  <a:txBody>
                    <a:bodyPr/>
                    <a:lstStyle/>
                    <a:p>
                      <a:pPr>
                        <a:buNone/>
                      </a:pPr>
                      <a:r>
                        <a:rPr lang="en-IN" sz="2400"/>
                        <a:t>Tiny ImageNetPlaces365</a:t>
                      </a:r>
                    </a:p>
                  </a:txBody>
                  <a:tcPr marL="16640" marR="16640" marT="8320" marB="8320" anchor="ctr"/>
                </a:tc>
                <a:extLst>
                  <a:ext uri="{0D108BD9-81ED-4DB2-BD59-A6C34878D82A}">
                    <a16:rowId xmlns:a16="http://schemas.microsoft.com/office/drawing/2014/main" val="1319178436"/>
                  </a:ext>
                </a:extLst>
              </a:tr>
              <a:tr h="212269">
                <a:tc>
                  <a:txBody>
                    <a:bodyPr/>
                    <a:lstStyle/>
                    <a:p>
                      <a:pPr>
                        <a:buNone/>
                      </a:pPr>
                      <a:r>
                        <a:rPr lang="en-IN" sz="2400" b="1"/>
                        <a:t>9</a:t>
                      </a:r>
                      <a:endParaRPr lang="en-IN" sz="2400"/>
                    </a:p>
                  </a:txBody>
                  <a:tcPr marL="16640" marR="16640" marT="8320" marB="8320" anchor="ctr"/>
                </a:tc>
                <a:tc>
                  <a:txBody>
                    <a:bodyPr/>
                    <a:lstStyle/>
                    <a:p>
                      <a:pPr>
                        <a:buNone/>
                      </a:pPr>
                      <a:r>
                        <a:rPr lang="en-US" sz="2400"/>
                        <a:t>Communication-Efficient Distributed Optimization with Error Reset</a:t>
                      </a:r>
                    </a:p>
                  </a:txBody>
                  <a:tcPr marL="16640" marR="16640" marT="8320" marB="8320" anchor="ctr"/>
                </a:tc>
                <a:tc>
                  <a:txBody>
                    <a:bodyPr/>
                    <a:lstStyle/>
                    <a:p>
                      <a:pPr>
                        <a:buNone/>
                      </a:pPr>
                      <a:r>
                        <a:rPr lang="en-US" sz="2400"/>
                        <a:t>IEEE Transactions on Neural Networks and Learning Systems, 2020</a:t>
                      </a:r>
                    </a:p>
                  </a:txBody>
                  <a:tcPr marL="16640" marR="16640" marT="8320" marB="8320" anchor="ctr"/>
                </a:tc>
                <a:tc>
                  <a:txBody>
                    <a:bodyPr/>
                    <a:lstStyle/>
                    <a:p>
                      <a:pPr>
                        <a:buNone/>
                      </a:pPr>
                      <a:r>
                        <a:rPr lang="en-US" sz="2400"/>
                        <a:t>Error-reset mechanisms to stabilize compressed SGD</a:t>
                      </a:r>
                    </a:p>
                  </a:txBody>
                  <a:tcPr marL="16640" marR="16640" marT="8320" marB="8320" anchor="ctr"/>
                </a:tc>
                <a:tc>
                  <a:txBody>
                    <a:bodyPr/>
                    <a:lstStyle/>
                    <a:p>
                      <a:pPr>
                        <a:buNone/>
                      </a:pPr>
                      <a:r>
                        <a:rPr lang="en-US" sz="2400"/>
                        <a:t>• Slower convergence in deep networks</a:t>
                      </a:r>
                    </a:p>
                  </a:txBody>
                  <a:tcPr marL="16640" marR="16640" marT="8320" marB="8320" anchor="ctr"/>
                </a:tc>
                <a:tc>
                  <a:txBody>
                    <a:bodyPr/>
                    <a:lstStyle/>
                    <a:p>
                      <a:pPr>
                        <a:buNone/>
                      </a:pPr>
                      <a:r>
                        <a:rPr lang="en-IN" sz="2400"/>
                        <a:t>Pascal VOCCOCO</a:t>
                      </a:r>
                    </a:p>
                  </a:txBody>
                  <a:tcPr marL="16640" marR="16640" marT="8320" marB="8320" anchor="ctr"/>
                </a:tc>
                <a:extLst>
                  <a:ext uri="{0D108BD9-81ED-4DB2-BD59-A6C34878D82A}">
                    <a16:rowId xmlns:a16="http://schemas.microsoft.com/office/drawing/2014/main" val="1306725986"/>
                  </a:ext>
                </a:extLst>
              </a:tr>
              <a:tr h="465908">
                <a:tc>
                  <a:txBody>
                    <a:bodyPr/>
                    <a:lstStyle/>
                    <a:p>
                      <a:pPr>
                        <a:buNone/>
                      </a:pPr>
                      <a:r>
                        <a:rPr lang="en-IN" sz="2400" b="1"/>
                        <a:t>10</a:t>
                      </a:r>
                      <a:endParaRPr lang="en-IN" sz="2400"/>
                    </a:p>
                  </a:txBody>
                  <a:tcPr marL="16640" marR="16640" marT="8320" marB="8320" anchor="ctr"/>
                </a:tc>
                <a:tc>
                  <a:txBody>
                    <a:bodyPr/>
                    <a:lstStyle/>
                    <a:p>
                      <a:pPr>
                        <a:buNone/>
                      </a:pPr>
                      <a:r>
                        <a:rPr lang="en-US" sz="2400"/>
                        <a:t>Distributed Deep Learning on Edge Devices: Challenges and Opportunities</a:t>
                      </a:r>
                    </a:p>
                  </a:txBody>
                  <a:tcPr marL="16640" marR="16640" marT="8320" marB="8320" anchor="ctr"/>
                </a:tc>
                <a:tc>
                  <a:txBody>
                    <a:bodyPr/>
                    <a:lstStyle/>
                    <a:p>
                      <a:pPr>
                        <a:buNone/>
                      </a:pPr>
                      <a:r>
                        <a:rPr lang="en-US" sz="2400"/>
                        <a:t>IEEE Internet of Things Journal, 2023</a:t>
                      </a:r>
                    </a:p>
                  </a:txBody>
                  <a:tcPr marL="16640" marR="16640" marT="8320" marB="8320" anchor="ctr"/>
                </a:tc>
                <a:tc>
                  <a:txBody>
                    <a:bodyPr/>
                    <a:lstStyle/>
                    <a:p>
                      <a:pPr>
                        <a:buNone/>
                      </a:pPr>
                      <a:r>
                        <a:rPr lang="en-US" sz="2400" dirty="0"/>
                        <a:t>Survey of distributed deep learning architectures for edge and IoT systems</a:t>
                      </a:r>
                    </a:p>
                  </a:txBody>
                  <a:tcPr marL="16640" marR="16640" marT="8320" marB="8320" anchor="ctr"/>
                </a:tc>
                <a:tc>
                  <a:txBody>
                    <a:bodyPr/>
                    <a:lstStyle/>
                    <a:p>
                      <a:pPr>
                        <a:buNone/>
                      </a:pPr>
                      <a:r>
                        <a:rPr lang="en-IN" sz="2400" dirty="0"/>
                        <a:t>• No experimental validation</a:t>
                      </a:r>
                    </a:p>
                    <a:p>
                      <a:pPr>
                        <a:buNone/>
                      </a:pPr>
                      <a:r>
                        <a:rPr lang="en-IN" sz="2400" dirty="0"/>
                        <a:t>• No algorithmic contribution</a:t>
                      </a:r>
                    </a:p>
                  </a:txBody>
                  <a:tcPr marL="16640" marR="16640" marT="8320" marB="8320" anchor="ctr"/>
                </a:tc>
                <a:tc>
                  <a:txBody>
                    <a:bodyPr/>
                    <a:lstStyle/>
                    <a:p>
                      <a:pPr>
                        <a:buNone/>
                      </a:pPr>
                      <a:r>
                        <a:rPr lang="en-IN" sz="2400" dirty="0"/>
                        <a:t>Survey Paper</a:t>
                      </a:r>
                    </a:p>
                  </a:txBody>
                  <a:tcPr marL="16640" marR="16640" marT="8320" marB="8320" anchor="ctr"/>
                </a:tc>
                <a:extLst>
                  <a:ext uri="{0D108BD9-81ED-4DB2-BD59-A6C34878D82A}">
                    <a16:rowId xmlns:a16="http://schemas.microsoft.com/office/drawing/2014/main" val="4269341358"/>
                  </a:ext>
                </a:extLst>
              </a:tr>
            </a:tbl>
          </a:graphicData>
        </a:graphic>
      </p:graphicFrame>
    </p:spTree>
    <p:extLst>
      <p:ext uri="{BB962C8B-B14F-4D97-AF65-F5344CB8AC3E}">
        <p14:creationId xmlns:p14="http://schemas.microsoft.com/office/powerpoint/2010/main" val="1846180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8" name="TextBox 8"/>
          <p:cNvSpPr txBox="1"/>
          <p:nvPr/>
        </p:nvSpPr>
        <p:spPr>
          <a:xfrm>
            <a:off x="2986043" y="718162"/>
            <a:ext cx="12696913" cy="1072538"/>
          </a:xfrm>
          <a:prstGeom prst="rect">
            <a:avLst/>
          </a:prstGeom>
        </p:spPr>
        <p:txBody>
          <a:bodyPr lIns="0" tIns="0" rIns="0" bIns="0" rtlCol="0" anchor="t">
            <a:spAutoFit/>
          </a:bodyPr>
          <a:lstStyle/>
          <a:p>
            <a:pPr algn="ctr">
              <a:lnSpc>
                <a:spcPts val="9429"/>
              </a:lnSpc>
            </a:pPr>
            <a:r>
              <a:rPr lang="en-US" sz="6735" dirty="0">
                <a:solidFill>
                  <a:srgbClr val="343434"/>
                </a:solidFill>
                <a:latin typeface="Candal"/>
                <a:ea typeface="Candal"/>
                <a:cs typeface="Candal"/>
                <a:sym typeface="Candal"/>
              </a:rPr>
              <a:t>Architecture Diagram</a:t>
            </a:r>
          </a:p>
        </p:txBody>
      </p:sp>
      <p:pic>
        <p:nvPicPr>
          <p:cNvPr id="12" name="Picture 11">
            <a:extLst>
              <a:ext uri="{FF2B5EF4-FFF2-40B4-BE49-F238E27FC236}">
                <a16:creationId xmlns:a16="http://schemas.microsoft.com/office/drawing/2014/main" id="{5C6C6385-99A2-E0BA-4F18-BE75CDBCB486}"/>
              </a:ext>
            </a:extLst>
          </p:cNvPr>
          <p:cNvPicPr>
            <a:picLocks noChangeAspect="1"/>
          </p:cNvPicPr>
          <p:nvPr/>
        </p:nvPicPr>
        <p:blipFill>
          <a:blip r:embed="rId2">
            <a:extLst>
              <a:ext uri="{28A0092B-C50C-407E-A947-70E740481C1C}">
                <a14:useLocalDpi xmlns:a14="http://schemas.microsoft.com/office/drawing/2010/main" val="0"/>
              </a:ext>
            </a:extLst>
          </a:blip>
          <a:srcRect t="2153"/>
          <a:stretch>
            <a:fillRect/>
          </a:stretch>
        </p:blipFill>
        <p:spPr>
          <a:xfrm>
            <a:off x="1828800" y="1790700"/>
            <a:ext cx="15011400" cy="76662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DBEECD20-E678-BDEE-780E-9954721295CD}"/>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97DF4FFE-56CA-4668-6355-ED8A0989BEAA}"/>
              </a:ext>
            </a:extLst>
          </p:cNvPr>
          <p:cNvSpPr txBox="1"/>
          <p:nvPr/>
        </p:nvSpPr>
        <p:spPr>
          <a:xfrm>
            <a:off x="2795543" y="1458342"/>
            <a:ext cx="12696913" cy="1072538"/>
          </a:xfrm>
          <a:prstGeom prst="rect">
            <a:avLst/>
          </a:prstGeom>
        </p:spPr>
        <p:txBody>
          <a:bodyPr lIns="0" tIns="0" rIns="0" bIns="0" rtlCol="0" anchor="t">
            <a:spAutoFit/>
          </a:bodyPr>
          <a:lstStyle/>
          <a:p>
            <a:pPr algn="ctr">
              <a:lnSpc>
                <a:spcPts val="9429"/>
              </a:lnSpc>
            </a:pPr>
            <a:r>
              <a:rPr lang="en-US" sz="6735" dirty="0">
                <a:solidFill>
                  <a:srgbClr val="343434"/>
                </a:solidFill>
                <a:latin typeface="Candal"/>
                <a:ea typeface="Candal"/>
                <a:cs typeface="Candal"/>
                <a:sym typeface="Candal"/>
              </a:rPr>
              <a:t>Flow Diagram</a:t>
            </a:r>
          </a:p>
        </p:txBody>
      </p:sp>
      <p:pic>
        <p:nvPicPr>
          <p:cNvPr id="3" name="Picture 2">
            <a:extLst>
              <a:ext uri="{FF2B5EF4-FFF2-40B4-BE49-F238E27FC236}">
                <a16:creationId xmlns:a16="http://schemas.microsoft.com/office/drawing/2014/main" id="{C3C820F7-0160-120D-D03D-F962581155A0}"/>
              </a:ext>
            </a:extLst>
          </p:cNvPr>
          <p:cNvPicPr>
            <a:picLocks noChangeAspect="1"/>
          </p:cNvPicPr>
          <p:nvPr/>
        </p:nvPicPr>
        <p:blipFill>
          <a:blip r:embed="rId2">
            <a:extLst>
              <a:ext uri="{28A0092B-C50C-407E-A947-70E740481C1C}">
                <a14:useLocalDpi xmlns:a14="http://schemas.microsoft.com/office/drawing/2010/main" val="0"/>
              </a:ext>
            </a:extLst>
          </a:blip>
          <a:srcRect l="63742"/>
          <a:stretch>
            <a:fillRect/>
          </a:stretch>
        </p:blipFill>
        <p:spPr>
          <a:xfrm>
            <a:off x="-914399" y="2482182"/>
            <a:ext cx="18059400" cy="5005606"/>
          </a:xfrm>
          <a:prstGeom prst="rect">
            <a:avLst/>
          </a:prstGeom>
        </p:spPr>
      </p:pic>
    </p:spTree>
    <p:extLst>
      <p:ext uri="{BB962C8B-B14F-4D97-AF65-F5344CB8AC3E}">
        <p14:creationId xmlns:p14="http://schemas.microsoft.com/office/powerpoint/2010/main" val="42422674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B4D01C07-29B2-3E69-CDAD-649BCBC3DA36}"/>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1E10A3F7-1977-9853-608E-E45196C5C46F}"/>
              </a:ext>
            </a:extLst>
          </p:cNvPr>
          <p:cNvSpPr txBox="1"/>
          <p:nvPr/>
        </p:nvSpPr>
        <p:spPr>
          <a:xfrm>
            <a:off x="2795543" y="952500"/>
            <a:ext cx="12696913" cy="1072538"/>
          </a:xfrm>
          <a:prstGeom prst="rect">
            <a:avLst/>
          </a:prstGeom>
        </p:spPr>
        <p:txBody>
          <a:bodyPr lIns="0" tIns="0" rIns="0" bIns="0" rtlCol="0" anchor="t">
            <a:spAutoFit/>
          </a:bodyPr>
          <a:lstStyle/>
          <a:p>
            <a:pPr algn="ctr">
              <a:lnSpc>
                <a:spcPts val="9429"/>
              </a:lnSpc>
            </a:pPr>
            <a:r>
              <a:rPr lang="en-US" sz="6735" dirty="0">
                <a:solidFill>
                  <a:srgbClr val="343434"/>
                </a:solidFill>
                <a:latin typeface="Candal"/>
                <a:ea typeface="Candal"/>
                <a:cs typeface="Candal"/>
                <a:sym typeface="Candal"/>
              </a:rPr>
              <a:t>Modules Proposed</a:t>
            </a:r>
          </a:p>
        </p:txBody>
      </p:sp>
      <p:sp>
        <p:nvSpPr>
          <p:cNvPr id="3" name="TextBox 2">
            <a:extLst>
              <a:ext uri="{FF2B5EF4-FFF2-40B4-BE49-F238E27FC236}">
                <a16:creationId xmlns:a16="http://schemas.microsoft.com/office/drawing/2014/main" id="{37B51D46-8540-A77C-C931-88E5F7467ED1}"/>
              </a:ext>
            </a:extLst>
          </p:cNvPr>
          <p:cNvSpPr txBox="1"/>
          <p:nvPr/>
        </p:nvSpPr>
        <p:spPr>
          <a:xfrm>
            <a:off x="1714500" y="2247900"/>
            <a:ext cx="14859000" cy="7478970"/>
          </a:xfrm>
          <a:prstGeom prst="rect">
            <a:avLst/>
          </a:prstGeom>
          <a:noFill/>
        </p:spPr>
        <p:txBody>
          <a:bodyPr wrap="square">
            <a:spAutoFit/>
          </a:bodyPr>
          <a:lstStyle/>
          <a:p>
            <a:r>
              <a:rPr lang="en-US" sz="2400" b="1" dirty="0">
                <a:latin typeface="Glacial Indifference" panose="020B0604020202020204" charset="0"/>
              </a:rPr>
              <a:t>1. Dataset Distribution</a:t>
            </a:r>
            <a:br>
              <a:rPr lang="en-US" sz="2400" dirty="0">
                <a:latin typeface="Glacial Indifference" panose="020B0604020202020204" charset="0"/>
              </a:rPr>
            </a:br>
            <a:r>
              <a:rPr lang="en-US" sz="2400" dirty="0">
                <a:latin typeface="Glacial Indifference" panose="020B0604020202020204" charset="0"/>
              </a:rPr>
              <a:t>Large-scale remote sensing images are collected and distributed across multiple worker nodes for parallel processing.</a:t>
            </a:r>
          </a:p>
          <a:p>
            <a:r>
              <a:rPr lang="en-US" sz="2400" b="1" dirty="0">
                <a:latin typeface="Glacial Indifference" panose="020B0604020202020204" charset="0"/>
              </a:rPr>
              <a:t>2. Preprocessing</a:t>
            </a:r>
            <a:br>
              <a:rPr lang="en-US" sz="2400" dirty="0">
                <a:latin typeface="Glacial Indifference" panose="020B0604020202020204" charset="0"/>
              </a:rPr>
            </a:br>
            <a:r>
              <a:rPr lang="en-US" sz="2400" dirty="0">
                <a:latin typeface="Glacial Indifference" panose="020B0604020202020204" charset="0"/>
              </a:rPr>
              <a:t>Images are normalized, resized, and enhanced to improve data quality and model robustness.</a:t>
            </a:r>
          </a:p>
          <a:p>
            <a:r>
              <a:rPr lang="en-US" sz="2400" b="1" dirty="0">
                <a:latin typeface="Glacial Indifference" panose="020B0604020202020204" charset="0"/>
              </a:rPr>
              <a:t>3. Distributed CNN Training</a:t>
            </a:r>
            <a:br>
              <a:rPr lang="en-US" sz="2400" dirty="0">
                <a:latin typeface="Glacial Indifference" panose="020B0604020202020204" charset="0"/>
              </a:rPr>
            </a:br>
            <a:r>
              <a:rPr lang="en-US" sz="2400" dirty="0">
                <a:latin typeface="Glacial Indifference" panose="020B0604020202020204" charset="0"/>
              </a:rPr>
              <a:t>Each node trains a local CNN model to extract spatial features from images.</a:t>
            </a:r>
          </a:p>
          <a:p>
            <a:r>
              <a:rPr lang="en-US" sz="2400" b="1" dirty="0">
                <a:latin typeface="Glacial Indifference" panose="020B0604020202020204" charset="0"/>
              </a:rPr>
              <a:t>4. Gradient Compression (Core Module)</a:t>
            </a:r>
            <a:br>
              <a:rPr lang="en-US" sz="2400" dirty="0">
                <a:latin typeface="Glacial Indifference" panose="020B0604020202020204" charset="0"/>
              </a:rPr>
            </a:br>
            <a:r>
              <a:rPr lang="en-US" sz="2400" dirty="0">
                <a:latin typeface="Glacial Indifference" panose="020B0604020202020204" charset="0"/>
              </a:rPr>
              <a:t>Computed gradients are compressed using </a:t>
            </a:r>
            <a:r>
              <a:rPr lang="en-US" sz="2400" dirty="0" err="1">
                <a:latin typeface="Glacial Indifference" panose="020B0604020202020204" charset="0"/>
              </a:rPr>
              <a:t>sparsification</a:t>
            </a:r>
            <a:r>
              <a:rPr lang="en-US" sz="2400" dirty="0">
                <a:latin typeface="Glacial Indifference" panose="020B0604020202020204" charset="0"/>
              </a:rPr>
              <a:t> and/or quantization to reduce communication overhead.</a:t>
            </a:r>
          </a:p>
          <a:p>
            <a:r>
              <a:rPr lang="en-US" sz="2400" b="1" dirty="0">
                <a:latin typeface="Glacial Indifference" panose="020B0604020202020204" charset="0"/>
              </a:rPr>
              <a:t>5. Model Aggregation</a:t>
            </a:r>
            <a:br>
              <a:rPr lang="en-US" sz="2400" dirty="0">
                <a:latin typeface="Glacial Indifference" panose="020B0604020202020204" charset="0"/>
              </a:rPr>
            </a:br>
            <a:r>
              <a:rPr lang="en-US" sz="2400" dirty="0">
                <a:latin typeface="Glacial Indifference" panose="020B0604020202020204" charset="0"/>
              </a:rPr>
              <a:t>Compressed gradients are aggregated at a central server to update the global model efficiently.</a:t>
            </a:r>
          </a:p>
          <a:p>
            <a:r>
              <a:rPr lang="en-US" sz="2400" b="1" dirty="0">
                <a:latin typeface="Glacial Indifference" panose="020B0604020202020204" charset="0"/>
              </a:rPr>
              <a:t>6. Evaluation &amp; Prediction</a:t>
            </a:r>
            <a:br>
              <a:rPr lang="en-US" sz="2400" dirty="0">
                <a:latin typeface="Glacial Indifference" panose="020B0604020202020204" charset="0"/>
              </a:rPr>
            </a:br>
            <a:r>
              <a:rPr lang="en-US" sz="2400" dirty="0">
                <a:latin typeface="Glacial Indifference" panose="020B0604020202020204" charset="0"/>
              </a:rPr>
              <a:t>The trained model is evaluated for accuracy and communication efficiency, then used for image interpretation.</a:t>
            </a:r>
            <a:br>
              <a:rPr lang="en-US" sz="2400" dirty="0">
                <a:latin typeface="Glacial Indifference" panose="020B0604020202020204" charset="0"/>
              </a:rPr>
            </a:br>
            <a:endParaRPr lang="en-US" sz="2400" dirty="0">
              <a:latin typeface="Glacial Indifference" panose="020B0604020202020204" charset="0"/>
            </a:endParaRPr>
          </a:p>
          <a:p>
            <a:r>
              <a:rPr lang="en-US" sz="2400" b="1" dirty="0">
                <a:latin typeface="Glacial Indifference" panose="020B0604020202020204" charset="0"/>
              </a:rPr>
              <a:t>Key Outcome</a:t>
            </a:r>
          </a:p>
          <a:p>
            <a:pPr marL="342900" indent="-342900">
              <a:buFont typeface="Arial" panose="020B0604020202020204" pitchFamily="34" charset="0"/>
              <a:buChar char="•"/>
            </a:pPr>
            <a:r>
              <a:rPr lang="en-US" sz="2400" dirty="0">
                <a:latin typeface="Glacial Indifference" panose="020B0604020202020204" charset="0"/>
              </a:rPr>
              <a:t>Reduced communication cost </a:t>
            </a:r>
          </a:p>
          <a:p>
            <a:pPr marL="342900" indent="-342900">
              <a:buFont typeface="Arial" panose="020B0604020202020204" pitchFamily="34" charset="0"/>
              <a:buChar char="•"/>
            </a:pPr>
            <a:r>
              <a:rPr lang="en-US" sz="2400" dirty="0">
                <a:latin typeface="Glacial Indifference" panose="020B0604020202020204" charset="0"/>
              </a:rPr>
              <a:t>Faster distributed training</a:t>
            </a:r>
          </a:p>
          <a:p>
            <a:pPr marL="342900" indent="-342900">
              <a:buFont typeface="Arial" panose="020B0604020202020204" pitchFamily="34" charset="0"/>
              <a:buChar char="•"/>
            </a:pPr>
            <a:r>
              <a:rPr lang="en-US" sz="2400" dirty="0">
                <a:latin typeface="Glacial Indifference" panose="020B0604020202020204" charset="0"/>
              </a:rPr>
              <a:t>Scalable and edge-friendly framework</a:t>
            </a:r>
          </a:p>
          <a:p>
            <a:endParaRPr lang="en-US" sz="2400" dirty="0">
              <a:solidFill>
                <a:srgbClr val="343434"/>
              </a:solidFill>
              <a:latin typeface="Glacial Indifference" panose="020B0604020202020204" charset="0"/>
            </a:endParaRPr>
          </a:p>
        </p:txBody>
      </p:sp>
    </p:spTree>
    <p:extLst>
      <p:ext uri="{BB962C8B-B14F-4D97-AF65-F5344CB8AC3E}">
        <p14:creationId xmlns:p14="http://schemas.microsoft.com/office/powerpoint/2010/main" val="1416928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8D3534A9-E940-5ACA-70A5-0A0F4EC99460}"/>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98B1D29A-6D38-88A0-BE2D-6561221EB16B}"/>
              </a:ext>
            </a:extLst>
          </p:cNvPr>
          <p:cNvSpPr txBox="1"/>
          <p:nvPr/>
        </p:nvSpPr>
        <p:spPr>
          <a:xfrm>
            <a:off x="2795543" y="838724"/>
            <a:ext cx="12696913" cy="1072538"/>
          </a:xfrm>
          <a:prstGeom prst="rect">
            <a:avLst/>
          </a:prstGeom>
        </p:spPr>
        <p:txBody>
          <a:bodyPr lIns="0" tIns="0" rIns="0" bIns="0" rtlCol="0" anchor="t">
            <a:spAutoFit/>
          </a:bodyPr>
          <a:lstStyle/>
          <a:p>
            <a:pPr algn="ctr">
              <a:lnSpc>
                <a:spcPts val="9429"/>
              </a:lnSpc>
            </a:pPr>
            <a:r>
              <a:rPr lang="en-US" sz="6735" dirty="0">
                <a:solidFill>
                  <a:srgbClr val="343434"/>
                </a:solidFill>
                <a:latin typeface="Candal"/>
                <a:ea typeface="Candal"/>
                <a:cs typeface="Candal"/>
                <a:sym typeface="Candal"/>
              </a:rPr>
              <a:t> Dataset Description</a:t>
            </a:r>
          </a:p>
        </p:txBody>
      </p:sp>
      <p:sp>
        <p:nvSpPr>
          <p:cNvPr id="3" name="TextBox 2">
            <a:extLst>
              <a:ext uri="{FF2B5EF4-FFF2-40B4-BE49-F238E27FC236}">
                <a16:creationId xmlns:a16="http://schemas.microsoft.com/office/drawing/2014/main" id="{1EFFC08F-4CA6-16DB-1B70-49014D368627}"/>
              </a:ext>
            </a:extLst>
          </p:cNvPr>
          <p:cNvSpPr txBox="1"/>
          <p:nvPr/>
        </p:nvSpPr>
        <p:spPr>
          <a:xfrm>
            <a:off x="1828800" y="2171700"/>
            <a:ext cx="15468600" cy="6740307"/>
          </a:xfrm>
          <a:prstGeom prst="rect">
            <a:avLst/>
          </a:prstGeom>
          <a:noFill/>
        </p:spPr>
        <p:txBody>
          <a:bodyPr wrap="square">
            <a:spAutoFit/>
          </a:bodyPr>
          <a:lstStyle/>
          <a:p>
            <a:r>
              <a:rPr lang="en-US" sz="2400" b="1" dirty="0">
                <a:latin typeface="Glacial Indifference" panose="020B0604020202020204" charset="0"/>
              </a:rPr>
              <a:t>A. Dataset 1: </a:t>
            </a:r>
            <a:r>
              <a:rPr lang="en-US" sz="2400" dirty="0">
                <a:latin typeface="Glacial Indifference" panose="020B0604020202020204" charset="0"/>
              </a:rPr>
              <a:t>Ships in Satellite Imagery (SSI)</a:t>
            </a:r>
          </a:p>
          <a:p>
            <a:r>
              <a:rPr lang="en-US" sz="2400" b="1" dirty="0">
                <a:latin typeface="Glacial Indifference" panose="020B0604020202020204" charset="0"/>
              </a:rPr>
              <a:t>Description:</a:t>
            </a:r>
            <a:r>
              <a:rPr lang="en-US" sz="2400" dirty="0">
                <a:latin typeface="Glacial Indifference" panose="020B0604020202020204" charset="0"/>
              </a:rPr>
              <a:t> Ships in Satellite Imagery (SSI) is a labeled satellite image dataset used for ship detection</a:t>
            </a:r>
          </a:p>
          <a:p>
            <a:r>
              <a:rPr lang="en-US" sz="2400" dirty="0">
                <a:latin typeface="Glacial Indifference" panose="020B0604020202020204" charset="0"/>
              </a:rPr>
              <a:t>and port congestion analysis. The dataset consists of small RGB image patches indicating the presence</a:t>
            </a:r>
          </a:p>
          <a:p>
            <a:r>
              <a:rPr lang="en-US" sz="2400" dirty="0">
                <a:latin typeface="Glacial Indifference" panose="020B0604020202020204" charset="0"/>
              </a:rPr>
              <a:t>or absence of ships in various maritime environments.</a:t>
            </a:r>
          </a:p>
          <a:p>
            <a:r>
              <a:rPr lang="en-US" sz="2400" b="1" dirty="0">
                <a:latin typeface="Glacial Indifference" panose="020B0604020202020204" charset="0"/>
              </a:rPr>
              <a:t>Major Attributes:</a:t>
            </a:r>
          </a:p>
          <a:p>
            <a:r>
              <a:rPr lang="en-US" sz="2400" dirty="0">
                <a:latin typeface="Glacial Indifference" panose="020B0604020202020204" charset="0"/>
              </a:rPr>
              <a:t>• </a:t>
            </a:r>
            <a:r>
              <a:rPr lang="en-US" sz="2400" b="1" dirty="0">
                <a:latin typeface="Glacial Indifference" panose="020B0604020202020204" charset="0"/>
              </a:rPr>
              <a:t>Image Data: </a:t>
            </a:r>
            <a:r>
              <a:rPr lang="en-US" sz="2400" dirty="0">
                <a:latin typeface="Glacial Indifference" panose="020B0604020202020204" charset="0"/>
              </a:rPr>
              <a:t>80×80 RGB satellite image patches representing different maritime scenes.</a:t>
            </a:r>
          </a:p>
          <a:p>
            <a:r>
              <a:rPr lang="en-US" sz="2400" dirty="0">
                <a:latin typeface="Glacial Indifference" panose="020B0604020202020204" charset="0"/>
              </a:rPr>
              <a:t>• </a:t>
            </a:r>
            <a:r>
              <a:rPr lang="en-US" sz="2400" b="1" dirty="0">
                <a:latin typeface="Glacial Indifference" panose="020B0604020202020204" charset="0"/>
              </a:rPr>
              <a:t>Label: </a:t>
            </a:r>
            <a:r>
              <a:rPr lang="en-US" sz="2400" dirty="0">
                <a:latin typeface="Glacial Indifference" panose="020B0604020202020204" charset="0"/>
              </a:rPr>
              <a:t>Binary annotation indicating ship presence (1) or absence (0).</a:t>
            </a:r>
          </a:p>
          <a:p>
            <a:r>
              <a:rPr lang="en-US" sz="2400" dirty="0">
                <a:latin typeface="Glacial Indifference" panose="020B0604020202020204" charset="0"/>
              </a:rPr>
              <a:t>• </a:t>
            </a:r>
            <a:r>
              <a:rPr lang="en-US" sz="2400" b="1" dirty="0">
                <a:latin typeface="Glacial Indifference" panose="020B0604020202020204" charset="0"/>
              </a:rPr>
              <a:t>Scene ID: </a:t>
            </a:r>
            <a:r>
              <a:rPr lang="en-US" sz="2400" dirty="0">
                <a:latin typeface="Glacial Indifference" panose="020B0604020202020204" charset="0"/>
              </a:rPr>
              <a:t>Unique identifier for the satellite scene from which the image was extracted.</a:t>
            </a:r>
          </a:p>
          <a:p>
            <a:r>
              <a:rPr lang="en-US" sz="2400" dirty="0">
                <a:latin typeface="Glacial Indifference" panose="020B0604020202020204" charset="0"/>
              </a:rPr>
              <a:t>• </a:t>
            </a:r>
            <a:r>
              <a:rPr lang="en-US" sz="2400" b="1" dirty="0">
                <a:latin typeface="Glacial Indifference" panose="020B0604020202020204" charset="0"/>
              </a:rPr>
              <a:t>Geolocation (Longitude, Latitude): </a:t>
            </a:r>
            <a:r>
              <a:rPr lang="en-US" sz="2400" dirty="0">
                <a:latin typeface="Glacial Indifference" panose="020B0604020202020204" charset="0"/>
              </a:rPr>
              <a:t>Coordinates of the image </a:t>
            </a:r>
            <a:r>
              <a:rPr lang="en-US" sz="2400" dirty="0" err="1">
                <a:latin typeface="Glacial Indifference" panose="020B0604020202020204" charset="0"/>
              </a:rPr>
              <a:t>centre</a:t>
            </a:r>
            <a:r>
              <a:rPr lang="en-US" sz="2400" dirty="0">
                <a:latin typeface="Glacial Indifference" panose="020B0604020202020204" charset="0"/>
              </a:rPr>
              <a:t>.</a:t>
            </a:r>
          </a:p>
          <a:p>
            <a:r>
              <a:rPr lang="en-US" sz="2400" b="1" dirty="0">
                <a:latin typeface="Glacial Indifference" panose="020B0604020202020204" charset="0"/>
              </a:rPr>
              <a:t>B. Dataset 2: </a:t>
            </a:r>
            <a:r>
              <a:rPr lang="en-US" sz="2400" dirty="0">
                <a:latin typeface="Glacial Indifference" panose="020B0604020202020204" charset="0"/>
              </a:rPr>
              <a:t>ARGO Ship Classification Dataset</a:t>
            </a:r>
          </a:p>
          <a:p>
            <a:r>
              <a:rPr lang="en-US" sz="2400" b="1" dirty="0">
                <a:latin typeface="Glacial Indifference" panose="020B0604020202020204" charset="0"/>
              </a:rPr>
              <a:t>Description: </a:t>
            </a:r>
            <a:r>
              <a:rPr lang="en-US" sz="2400" dirty="0">
                <a:latin typeface="Glacial Indifference" panose="020B0604020202020204" charset="0"/>
              </a:rPr>
              <a:t>The ARGO Ship Classification Dataset is a satellite-based maritime image dataset</a:t>
            </a:r>
          </a:p>
          <a:p>
            <a:r>
              <a:rPr lang="en-US" sz="2400" dirty="0">
                <a:latin typeface="Glacial Indifference" panose="020B0604020202020204" charset="0"/>
              </a:rPr>
              <a:t>designed for remote sensing classification tasks. It contains labeled ship and non-ship image patches</a:t>
            </a:r>
          </a:p>
          <a:p>
            <a:r>
              <a:rPr lang="en-US" sz="2400" dirty="0">
                <a:latin typeface="Glacial Indifference" panose="020B0604020202020204" charset="0"/>
              </a:rPr>
              <a:t>along with associated AIS metadata for accurate maritime analysis.</a:t>
            </a:r>
          </a:p>
          <a:p>
            <a:r>
              <a:rPr lang="en-US" sz="2400" b="1" dirty="0">
                <a:latin typeface="Glacial Indifference" panose="020B0604020202020204" charset="0"/>
              </a:rPr>
              <a:t>Major Attributes:</a:t>
            </a:r>
          </a:p>
          <a:p>
            <a:r>
              <a:rPr lang="en-US" sz="2400" b="1" dirty="0">
                <a:latin typeface="Glacial Indifference" panose="020B0604020202020204" charset="0"/>
              </a:rPr>
              <a:t>• Image</a:t>
            </a:r>
            <a:r>
              <a:rPr lang="en-US" sz="2400" dirty="0">
                <a:latin typeface="Glacial Indifference" panose="020B0604020202020204" charset="0"/>
              </a:rPr>
              <a:t>: Satellite image patch containing maritime scenes (ship or non-ship).</a:t>
            </a:r>
          </a:p>
          <a:p>
            <a:r>
              <a:rPr lang="en-US" sz="2400" b="1" dirty="0">
                <a:latin typeface="Glacial Indifference" panose="020B0604020202020204" charset="0"/>
              </a:rPr>
              <a:t>• Label: </a:t>
            </a:r>
            <a:r>
              <a:rPr lang="en-US" sz="2400" dirty="0">
                <a:latin typeface="Glacial Indifference" panose="020B0604020202020204" charset="0"/>
              </a:rPr>
              <a:t>Binary indicator denoting ship presence (ship / </a:t>
            </a:r>
            <a:r>
              <a:rPr lang="en-US" sz="2400" dirty="0" err="1">
                <a:latin typeface="Glacial Indifference" panose="020B0604020202020204" charset="0"/>
              </a:rPr>
              <a:t>non_ship</a:t>
            </a:r>
            <a:r>
              <a:rPr lang="en-US" sz="2400" dirty="0">
                <a:latin typeface="Glacial Indifference" panose="020B0604020202020204" charset="0"/>
              </a:rPr>
              <a:t>).</a:t>
            </a:r>
          </a:p>
          <a:p>
            <a:r>
              <a:rPr lang="en-US" sz="2400" b="1" dirty="0">
                <a:latin typeface="Glacial Indifference" panose="020B0604020202020204" charset="0"/>
              </a:rPr>
              <a:t>• </a:t>
            </a:r>
            <a:r>
              <a:rPr lang="en-US" sz="2400" b="1" dirty="0" err="1">
                <a:latin typeface="Glacial Indifference" panose="020B0604020202020204" charset="0"/>
              </a:rPr>
              <a:t>channel_data</a:t>
            </a:r>
            <a:r>
              <a:rPr lang="en-US" sz="2400" b="1" dirty="0">
                <a:latin typeface="Glacial Indifference" panose="020B0604020202020204" charset="0"/>
              </a:rPr>
              <a:t>: </a:t>
            </a:r>
            <a:r>
              <a:rPr lang="en-US" sz="2400" dirty="0">
                <a:latin typeface="Glacial Indifference" panose="020B0604020202020204" charset="0"/>
              </a:rPr>
              <a:t>Four-band </a:t>
            </a:r>
            <a:r>
              <a:rPr lang="en-US" sz="2400" dirty="0" err="1">
                <a:latin typeface="Glacial Indifference" panose="020B0604020202020204" charset="0"/>
              </a:rPr>
              <a:t>PlanetScope</a:t>
            </a:r>
            <a:r>
              <a:rPr lang="en-US" sz="2400" dirty="0">
                <a:latin typeface="Glacial Indifference" panose="020B0604020202020204" charset="0"/>
              </a:rPr>
              <a:t> imagery (Blue, Green, Red, Near-Infrared) stored in NumPy</a:t>
            </a:r>
          </a:p>
          <a:p>
            <a:r>
              <a:rPr lang="en-US" sz="2400" dirty="0">
                <a:latin typeface="Glacial Indifference" panose="020B0604020202020204" charset="0"/>
              </a:rPr>
              <a:t>format.</a:t>
            </a:r>
          </a:p>
        </p:txBody>
      </p:sp>
    </p:spTree>
    <p:extLst>
      <p:ext uri="{BB962C8B-B14F-4D97-AF65-F5344CB8AC3E}">
        <p14:creationId xmlns:p14="http://schemas.microsoft.com/office/powerpoint/2010/main" val="14590628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6" name="TextBox 6"/>
          <p:cNvSpPr txBox="1"/>
          <p:nvPr/>
        </p:nvSpPr>
        <p:spPr>
          <a:xfrm>
            <a:off x="5005568" y="800100"/>
            <a:ext cx="8276864"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Reference</a:t>
            </a:r>
          </a:p>
        </p:txBody>
      </p:sp>
      <p:sp>
        <p:nvSpPr>
          <p:cNvPr id="7" name="TextBox 7"/>
          <p:cNvSpPr txBox="1"/>
          <p:nvPr/>
        </p:nvSpPr>
        <p:spPr>
          <a:xfrm>
            <a:off x="2064663" y="2476500"/>
            <a:ext cx="14158674" cy="6746655"/>
          </a:xfrm>
          <a:prstGeom prst="rect">
            <a:avLst/>
          </a:prstGeom>
        </p:spPr>
        <p:txBody>
          <a:bodyPr wrap="square" lIns="0" tIns="0" rIns="0" bIns="0" rtlCol="0" anchor="t">
            <a:spAutoFit/>
          </a:bodyPr>
          <a:lstStyle/>
          <a:p>
            <a:pPr indent="0" algn="just">
              <a:lnSpc>
                <a:spcPts val="2087"/>
              </a:lnSpc>
              <a:spcBef>
                <a:spcPct val="0"/>
              </a:spcBef>
            </a:pPr>
            <a:r>
              <a:rPr lang="en-US" sz="2400" dirty="0">
                <a:solidFill>
                  <a:srgbClr val="343434"/>
                </a:solidFill>
                <a:latin typeface="Glacial Indifference"/>
                <a:sym typeface="Glacial Indifference"/>
              </a:rPr>
              <a:t>[1] W. Xie et al., "Distributed Deep Learning with Gradient Compression for Big Remote Sensing Image Interpretation," in IEEE Transactions on Neural Networks and Learning Systems, vol. 36, no. 8, pp. 14328-14342, Aug. 2025, Doi: 10.1109/TNNLS.2024.3517535.</a:t>
            </a:r>
          </a:p>
          <a:p>
            <a:pPr indent="0" algn="just">
              <a:lnSpc>
                <a:spcPts val="2087"/>
              </a:lnSpc>
              <a:spcBef>
                <a:spcPct val="0"/>
              </a:spcBef>
            </a:pPr>
            <a:r>
              <a:rPr lang="en-US" sz="2400" dirty="0">
                <a:solidFill>
                  <a:srgbClr val="343434"/>
                </a:solidFill>
                <a:latin typeface="Glacial Indifference"/>
                <a:sym typeface="Glacial Indifference"/>
              </a:rPr>
              <a:t>[2] J. M. Haut, M. E. Paoletti, J. Plaza, A. Plaza and J. Li, “Communication-Efficient Distributed Deep Learning for Hyperspectral Image Analysis,” IEEE Journal of Selected Topics in Applied Earth Observations and Remote Sensing, vol. 13, pp. 123–137, 2020, Doi: 10.1109/JSTARS.2019.2959437. [3] L. Abrahamyan, Y. Chen, G. Be Koulis and N. Deligiannis, "Learned Gradient Compression for Distributed Deep Learning," in IEEE Transactions on Neural Networks and Learning Systems, vol. 33, no. 12, pp. 7330-7344, Dec. 2022, Doi: 10.1109/TNNLS.2021.3084806. </a:t>
            </a:r>
          </a:p>
          <a:p>
            <a:pPr indent="0" algn="just">
              <a:lnSpc>
                <a:spcPts val="2087"/>
              </a:lnSpc>
              <a:spcBef>
                <a:spcPct val="0"/>
              </a:spcBef>
            </a:pPr>
            <a:r>
              <a:rPr lang="en-US" sz="2400" dirty="0">
                <a:solidFill>
                  <a:srgbClr val="343434"/>
                </a:solidFill>
                <a:latin typeface="Glacial Indifference"/>
                <a:sym typeface="Glacial Indifference"/>
              </a:rPr>
              <a:t>[4] F. Sattler, S. Wiedemann, K. -R. Müller and W. Samek, "Robust and Communication-Efficient Federated Learning from Non-</a:t>
            </a:r>
            <a:r>
              <a:rPr lang="en-US" sz="2400" dirty="0" err="1">
                <a:solidFill>
                  <a:srgbClr val="343434"/>
                </a:solidFill>
                <a:latin typeface="Glacial Indifference"/>
                <a:sym typeface="Glacial Indifference"/>
              </a:rPr>
              <a:t>i.i.d.</a:t>
            </a:r>
            <a:r>
              <a:rPr lang="en-US" sz="2400" dirty="0">
                <a:solidFill>
                  <a:srgbClr val="343434"/>
                </a:solidFill>
                <a:latin typeface="Glacial Indifference"/>
                <a:sym typeface="Glacial Indifference"/>
              </a:rPr>
              <a:t> Data," in IEEE Transactions on Neural Networks and Learning Systems, vol. 31, no. 9, pp. 3400-3413, Sept. 2020, Doi: 10.1109/TNNLS.2019.2944481. </a:t>
            </a:r>
          </a:p>
          <a:p>
            <a:pPr indent="0" algn="just">
              <a:lnSpc>
                <a:spcPts val="2087"/>
              </a:lnSpc>
              <a:spcBef>
                <a:spcPct val="0"/>
              </a:spcBef>
            </a:pPr>
            <a:r>
              <a:rPr lang="en-US" sz="2400" dirty="0">
                <a:solidFill>
                  <a:srgbClr val="343434"/>
                </a:solidFill>
                <a:latin typeface="Glacial Indifference"/>
                <a:sym typeface="Glacial Indifference"/>
              </a:rPr>
              <a:t>[5] C.-Y. Chen, J. Ni, S. Lu, X. Cui, P.-Y. Chen, X. Sun, N. Wang, S. Venkataramani, V. Srinivasan, W. Zhang and K. Gopalakrishnan, “</a:t>
            </a:r>
            <a:r>
              <a:rPr lang="en-US" sz="2400" dirty="0" err="1">
                <a:solidFill>
                  <a:srgbClr val="343434"/>
                </a:solidFill>
                <a:latin typeface="Glacial Indifference"/>
                <a:sym typeface="Glacial Indifference"/>
              </a:rPr>
              <a:t>ScaleCom</a:t>
            </a:r>
            <a:r>
              <a:rPr lang="en-US" sz="2400" dirty="0">
                <a:solidFill>
                  <a:srgbClr val="343434"/>
                </a:solidFill>
                <a:latin typeface="Glacial Indifference"/>
                <a:sym typeface="Glacial Indifference"/>
              </a:rPr>
              <a:t>: Scalable </a:t>
            </a:r>
            <a:r>
              <a:rPr lang="en-US" sz="2400" dirty="0" err="1">
                <a:solidFill>
                  <a:srgbClr val="343434"/>
                </a:solidFill>
                <a:latin typeface="Glacial Indifference"/>
                <a:sym typeface="Glacial Indifference"/>
              </a:rPr>
              <a:t>Sparsified</a:t>
            </a:r>
            <a:r>
              <a:rPr lang="en-US" sz="2400" dirty="0">
                <a:solidFill>
                  <a:srgbClr val="343434"/>
                </a:solidFill>
                <a:latin typeface="Glacial Indifference"/>
                <a:sym typeface="Glacial Indifference"/>
              </a:rPr>
              <a:t> Gradient Compression for Communication-Efficient Distributed Training,” </a:t>
            </a:r>
            <a:r>
              <a:rPr lang="en-US" sz="2400" dirty="0" err="1">
                <a:solidFill>
                  <a:srgbClr val="343434"/>
                </a:solidFill>
                <a:latin typeface="Glacial Indifference"/>
                <a:sym typeface="Glacial Indifference"/>
              </a:rPr>
              <a:t>arXiv</a:t>
            </a:r>
            <a:r>
              <a:rPr lang="en-US" sz="2400" dirty="0">
                <a:solidFill>
                  <a:srgbClr val="343434"/>
                </a:solidFill>
                <a:latin typeface="Glacial Indifference"/>
                <a:sym typeface="Glacial Indifference"/>
              </a:rPr>
              <a:t> preprint arXiv:2104.11125, 2021. </a:t>
            </a:r>
          </a:p>
          <a:p>
            <a:pPr indent="0" algn="just">
              <a:lnSpc>
                <a:spcPts val="2087"/>
              </a:lnSpc>
              <a:spcBef>
                <a:spcPct val="0"/>
              </a:spcBef>
            </a:pPr>
            <a:r>
              <a:rPr lang="en-US" sz="2400" dirty="0">
                <a:solidFill>
                  <a:srgbClr val="343434"/>
                </a:solidFill>
                <a:latin typeface="Glacial Indifference"/>
                <a:sym typeface="Glacial Indifference"/>
              </a:rPr>
              <a:t>[6] J. M. Haut et al., "Cloud Deep Networks for Hyperspectral Image Analysis," in IEEE Transactions on Geoscience and Remote Sensing, vol. 57, no. 12, pp. 9832-9848, Dec. 2019, Doi: 10.1109/TGRS.2019.2929731. </a:t>
            </a:r>
          </a:p>
          <a:p>
            <a:pPr indent="0" algn="just">
              <a:lnSpc>
                <a:spcPts val="2087"/>
              </a:lnSpc>
              <a:spcBef>
                <a:spcPct val="0"/>
              </a:spcBef>
            </a:pPr>
            <a:r>
              <a:rPr lang="en-US" sz="2400" dirty="0">
                <a:solidFill>
                  <a:srgbClr val="343434"/>
                </a:solidFill>
                <a:latin typeface="Glacial Indifference"/>
                <a:sym typeface="Glacial Indifference"/>
              </a:rPr>
              <a:t>[7] L. Song et al., "Communication Efficient SGD via Gradient Sampling with Bayes Prior," 2021 IEEE/CVF Conference on Computer Vision and Pattern Recognition (CVPR), Nashville, TN, USA, 2021, pp. 12060-12069, </a:t>
            </a:r>
            <a:r>
              <a:rPr lang="en-US" sz="2400" dirty="0" err="1">
                <a:solidFill>
                  <a:srgbClr val="343434"/>
                </a:solidFill>
                <a:latin typeface="Glacial Indifference"/>
                <a:sym typeface="Glacial Indifference"/>
              </a:rPr>
              <a:t>doi</a:t>
            </a:r>
            <a:r>
              <a:rPr lang="en-US" sz="2400" dirty="0">
                <a:solidFill>
                  <a:srgbClr val="343434"/>
                </a:solidFill>
                <a:latin typeface="Glacial Indifference"/>
                <a:sym typeface="Glacial Indifference"/>
              </a:rPr>
              <a:t>: 10.1109/CVPR46437.2021.01189. </a:t>
            </a:r>
          </a:p>
          <a:p>
            <a:pPr indent="0" algn="just">
              <a:lnSpc>
                <a:spcPts val="2087"/>
              </a:lnSpc>
              <a:spcBef>
                <a:spcPct val="0"/>
              </a:spcBef>
            </a:pPr>
            <a:r>
              <a:rPr lang="en-US" sz="2400" dirty="0">
                <a:solidFill>
                  <a:srgbClr val="343434"/>
                </a:solidFill>
                <a:latin typeface="Glacial Indifference"/>
                <a:sym typeface="Glacial Indifference"/>
              </a:rPr>
              <a:t>[8] W. Xie et al., "</a:t>
            </a:r>
            <a:r>
              <a:rPr lang="en-US" sz="2400" dirty="0" err="1">
                <a:solidFill>
                  <a:srgbClr val="343434"/>
                </a:solidFill>
                <a:latin typeface="Glacial Indifference"/>
                <a:sym typeface="Glacial Indifference"/>
              </a:rPr>
              <a:t>JointSQ</a:t>
            </a:r>
            <a:r>
              <a:rPr lang="en-US" sz="2400" dirty="0">
                <a:solidFill>
                  <a:srgbClr val="343434"/>
                </a:solidFill>
                <a:latin typeface="Glacial Indifference"/>
                <a:sym typeface="Glacial Indifference"/>
              </a:rPr>
              <a:t>: Joint </a:t>
            </a:r>
            <a:r>
              <a:rPr lang="en-US" sz="2400" dirty="0" err="1">
                <a:solidFill>
                  <a:srgbClr val="343434"/>
                </a:solidFill>
                <a:latin typeface="Glacial Indifference"/>
                <a:sym typeface="Glacial Indifference"/>
              </a:rPr>
              <a:t>Sparsification</a:t>
            </a:r>
            <a:r>
              <a:rPr lang="en-US" sz="2400" dirty="0">
                <a:solidFill>
                  <a:srgbClr val="343434"/>
                </a:solidFill>
                <a:latin typeface="Glacial Indifference"/>
                <a:sym typeface="Glacial Indifference"/>
              </a:rPr>
              <a:t>-Quantization for Distributed Learning," 2024 IEEE/CVF Conference on Computer Vision and Pattern Recognition (CVPR), Seattle, WA, USA, 2024, pp. 5778-5787, Doi: 10.1109/CVPR52733.2024.00552. </a:t>
            </a:r>
          </a:p>
          <a:p>
            <a:pPr marL="0" lvl="0" indent="0" algn="just">
              <a:lnSpc>
                <a:spcPts val="2087"/>
              </a:lnSpc>
              <a:spcBef>
                <a:spcPct val="0"/>
              </a:spcBef>
            </a:pPr>
            <a:endParaRPr lang="en-US" sz="2400" i="1" u="none" strike="noStrike" dirty="0">
              <a:solidFill>
                <a:srgbClr val="343434"/>
              </a:solidFill>
              <a:latin typeface="Source Sans Pro SemiBold" panose="020B0603030403020204" pitchFamily="34" charset="0"/>
              <a:ea typeface="Source Sans Pro SemiBold" panose="020B0603030403020204" pitchFamily="34" charset="0"/>
              <a:cs typeface="Glacial Indifference"/>
              <a:sym typeface="Glacial Indifference"/>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52F323BC-A9C0-BFAE-79CF-200762041588}"/>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F779CCB4-3855-8D8A-C87D-07474FDB9C1F}"/>
              </a:ext>
            </a:extLst>
          </p:cNvPr>
          <p:cNvSpPr txBox="1"/>
          <p:nvPr/>
        </p:nvSpPr>
        <p:spPr>
          <a:xfrm>
            <a:off x="4572000" y="1104900"/>
            <a:ext cx="8276864" cy="1576069"/>
          </a:xfrm>
          <a:prstGeom prst="rect">
            <a:avLst/>
          </a:prstGeom>
        </p:spPr>
        <p:txBody>
          <a:bodyPr lIns="0" tIns="0" rIns="0" bIns="0" rtlCol="0" anchor="t">
            <a:spAutoFit/>
          </a:bodyPr>
          <a:lstStyle/>
          <a:p>
            <a:pPr algn="ctr">
              <a:lnSpc>
                <a:spcPts val="12880"/>
              </a:lnSpc>
            </a:pPr>
            <a:r>
              <a:rPr lang="en-US" sz="9200" dirty="0">
                <a:solidFill>
                  <a:srgbClr val="343434"/>
                </a:solidFill>
                <a:latin typeface="Candal"/>
                <a:ea typeface="Candal"/>
                <a:cs typeface="Candal"/>
                <a:sym typeface="Candal"/>
              </a:rPr>
              <a:t>Reference</a:t>
            </a:r>
          </a:p>
        </p:txBody>
      </p:sp>
      <p:sp>
        <p:nvSpPr>
          <p:cNvPr id="7" name="TextBox 7">
            <a:extLst>
              <a:ext uri="{FF2B5EF4-FFF2-40B4-BE49-F238E27FC236}">
                <a16:creationId xmlns:a16="http://schemas.microsoft.com/office/drawing/2014/main" id="{E11716D6-B6E6-5767-68FE-6CF219C0EF2D}"/>
              </a:ext>
            </a:extLst>
          </p:cNvPr>
          <p:cNvSpPr txBox="1"/>
          <p:nvPr/>
        </p:nvSpPr>
        <p:spPr>
          <a:xfrm>
            <a:off x="2064663" y="3086100"/>
            <a:ext cx="14158674" cy="5126403"/>
          </a:xfrm>
          <a:prstGeom prst="rect">
            <a:avLst/>
          </a:prstGeom>
        </p:spPr>
        <p:txBody>
          <a:bodyPr wrap="square" lIns="0" tIns="0" rIns="0" bIns="0" rtlCol="0" anchor="t">
            <a:spAutoFit/>
          </a:bodyPr>
          <a:lstStyle/>
          <a:p>
            <a:pPr lvl="0" algn="just">
              <a:lnSpc>
                <a:spcPts val="2087"/>
              </a:lnSpc>
              <a:spcBef>
                <a:spcPct val="0"/>
              </a:spcBef>
            </a:pPr>
            <a:r>
              <a:rPr lang="en-US" sz="2400" dirty="0">
                <a:solidFill>
                  <a:srgbClr val="343434"/>
                </a:solidFill>
                <a:latin typeface="Glacial Indifference"/>
                <a:ea typeface="Glacial Indifference"/>
                <a:cs typeface="Glacial Indifference"/>
                <a:sym typeface="Glacial Indifference"/>
              </a:rPr>
              <a:t>[9] C. Xie, S. Zheng, O. </a:t>
            </a:r>
            <a:r>
              <a:rPr lang="en-US" sz="2400" dirty="0" err="1">
                <a:solidFill>
                  <a:srgbClr val="343434"/>
                </a:solidFill>
                <a:latin typeface="Glacial Indifference"/>
                <a:ea typeface="Glacial Indifference"/>
                <a:cs typeface="Glacial Indifference"/>
                <a:sym typeface="Glacial Indifference"/>
              </a:rPr>
              <a:t>Koyejo</a:t>
            </a:r>
            <a:r>
              <a:rPr lang="en-US" sz="2400" dirty="0">
                <a:solidFill>
                  <a:srgbClr val="343434"/>
                </a:solidFill>
                <a:latin typeface="Glacial Indifference"/>
                <a:ea typeface="Glacial Indifference"/>
                <a:cs typeface="Glacial Indifference"/>
                <a:sym typeface="Glacial Indifference"/>
              </a:rPr>
              <a:t>, I. Gupta, M. Li and H. Lin, “CSER: Communication-Efficient SGD with Error Reset,” </a:t>
            </a:r>
            <a:r>
              <a:rPr lang="en-US" sz="2400" dirty="0" err="1">
                <a:solidFill>
                  <a:srgbClr val="343434"/>
                </a:solidFill>
                <a:latin typeface="Glacial Indifference"/>
                <a:ea typeface="Glacial Indifference"/>
                <a:cs typeface="Glacial Indifference"/>
                <a:sym typeface="Glacial Indifference"/>
              </a:rPr>
              <a:t>arXiv</a:t>
            </a:r>
            <a:r>
              <a:rPr lang="en-US" sz="2400" dirty="0">
                <a:solidFill>
                  <a:srgbClr val="343434"/>
                </a:solidFill>
                <a:latin typeface="Glacial Indifference"/>
                <a:ea typeface="Glacial Indifference"/>
                <a:cs typeface="Glacial Indifference"/>
                <a:sym typeface="Glacial Indifference"/>
              </a:rPr>
              <a:t> preprint arXiv:2007.13221, 2020. </a:t>
            </a:r>
          </a:p>
          <a:p>
            <a:pPr lvl="0" algn="just">
              <a:lnSpc>
                <a:spcPts val="2087"/>
              </a:lnSpc>
              <a:spcBef>
                <a:spcPct val="0"/>
              </a:spcBef>
            </a:pPr>
            <a:r>
              <a:rPr lang="en-US" sz="2400" dirty="0">
                <a:solidFill>
                  <a:srgbClr val="343434"/>
                </a:solidFill>
                <a:latin typeface="Glacial Indifference"/>
                <a:ea typeface="Glacial Indifference"/>
                <a:cs typeface="Glacial Indifference"/>
                <a:sym typeface="Glacial Indifference"/>
              </a:rPr>
              <a:t>[10] </a:t>
            </a:r>
            <a:r>
              <a:rPr lang="en-US" sz="2400" dirty="0" err="1">
                <a:solidFill>
                  <a:srgbClr val="343434"/>
                </a:solidFill>
                <a:latin typeface="Glacial Indifference"/>
                <a:ea typeface="Glacial Indifference"/>
                <a:cs typeface="Glacial Indifference"/>
                <a:sym typeface="Glacial Indifference"/>
              </a:rPr>
              <a:t>Jingke</a:t>
            </a:r>
            <a:r>
              <a:rPr lang="en-US" sz="2400" dirty="0">
                <a:solidFill>
                  <a:srgbClr val="343434"/>
                </a:solidFill>
                <a:latin typeface="Glacial Indifference"/>
                <a:ea typeface="Glacial Indifference"/>
                <a:cs typeface="Glacial Indifference"/>
                <a:sym typeface="Glacial Indifference"/>
              </a:rPr>
              <a:t> Tu, Lei Yang, and </a:t>
            </a:r>
            <a:r>
              <a:rPr lang="en-US" sz="2400" dirty="0" err="1">
                <a:solidFill>
                  <a:srgbClr val="343434"/>
                </a:solidFill>
                <a:latin typeface="Glacial Indifference"/>
                <a:ea typeface="Glacial Indifference"/>
                <a:cs typeface="Glacial Indifference"/>
                <a:sym typeface="Glacial Indifference"/>
              </a:rPr>
              <a:t>Jiannong</a:t>
            </a:r>
            <a:r>
              <a:rPr lang="en-US" sz="2400" dirty="0">
                <a:solidFill>
                  <a:srgbClr val="343434"/>
                </a:solidFill>
                <a:latin typeface="Glacial Indifference"/>
                <a:ea typeface="Glacial Indifference"/>
                <a:cs typeface="Glacial Indifference"/>
                <a:sym typeface="Glacial Indifference"/>
              </a:rPr>
              <a:t> Cao., “Distributed Machine Learning in Edge Computing: Challenges, Solutions and Future Directions,” ACM Computing Surveys, vol. 57, no. 5, Article 132, May 2025, 37 pages, Doi: 10.1145/3708495.. </a:t>
            </a:r>
          </a:p>
          <a:p>
            <a:pPr lvl="0" algn="just">
              <a:lnSpc>
                <a:spcPts val="2087"/>
              </a:lnSpc>
              <a:spcBef>
                <a:spcPct val="0"/>
              </a:spcBef>
            </a:pPr>
            <a:r>
              <a:rPr lang="en-US" sz="2400" dirty="0">
                <a:solidFill>
                  <a:srgbClr val="343434"/>
                </a:solidFill>
                <a:latin typeface="Glacial Indifference"/>
                <a:ea typeface="Glacial Indifference"/>
                <a:cs typeface="Glacial Indifference"/>
                <a:sym typeface="Glacial Indifference"/>
              </a:rPr>
              <a:t>[11] W. Xie et al., "</a:t>
            </a:r>
            <a:r>
              <a:rPr lang="en-US" sz="2400" dirty="0" err="1">
                <a:solidFill>
                  <a:srgbClr val="343434"/>
                </a:solidFill>
                <a:latin typeface="Glacial Indifference"/>
                <a:ea typeface="Glacial Indifference"/>
                <a:cs typeface="Glacial Indifference"/>
                <a:sym typeface="Glacial Indifference"/>
              </a:rPr>
              <a:t>JointSQ</a:t>
            </a:r>
            <a:r>
              <a:rPr lang="en-US" sz="2400" dirty="0">
                <a:solidFill>
                  <a:srgbClr val="343434"/>
                </a:solidFill>
                <a:latin typeface="Glacial Indifference"/>
                <a:ea typeface="Glacial Indifference"/>
                <a:cs typeface="Glacial Indifference"/>
                <a:sym typeface="Glacial Indifference"/>
              </a:rPr>
              <a:t>: Joint </a:t>
            </a:r>
            <a:r>
              <a:rPr lang="en-US" sz="2400" dirty="0" err="1">
                <a:solidFill>
                  <a:srgbClr val="343434"/>
                </a:solidFill>
                <a:latin typeface="Glacial Indifference"/>
                <a:ea typeface="Glacial Indifference"/>
                <a:cs typeface="Glacial Indifference"/>
                <a:sym typeface="Glacial Indifference"/>
              </a:rPr>
              <a:t>Sparsification</a:t>
            </a:r>
            <a:r>
              <a:rPr lang="en-US" sz="2400" dirty="0">
                <a:solidFill>
                  <a:srgbClr val="343434"/>
                </a:solidFill>
                <a:latin typeface="Glacial Indifference"/>
                <a:ea typeface="Glacial Indifference"/>
                <a:cs typeface="Glacial Indifference"/>
                <a:sym typeface="Glacial Indifference"/>
              </a:rPr>
              <a:t>-Quantization for Distributed Learning," 2024 IEEE/CVF Conference on Computer Vision and Pattern Recognition (CVPR), Seattle, WA, USA, 2024, pp. 5778-5787, Doi: 10.1109/CVPR52733.2024.00552. </a:t>
            </a:r>
          </a:p>
          <a:p>
            <a:pPr lvl="0" algn="just">
              <a:lnSpc>
                <a:spcPts val="2087"/>
              </a:lnSpc>
              <a:spcBef>
                <a:spcPct val="0"/>
              </a:spcBef>
            </a:pPr>
            <a:r>
              <a:rPr lang="en-US" sz="2400" dirty="0">
                <a:solidFill>
                  <a:srgbClr val="343434"/>
                </a:solidFill>
                <a:latin typeface="Glacial Indifference"/>
                <a:ea typeface="Glacial Indifference"/>
                <a:cs typeface="Glacial Indifference"/>
                <a:sym typeface="Glacial Indifference"/>
              </a:rPr>
              <a:t>[12] J. M. Haut, M. E. Paoletti, S. Moreno-Alvarez, J. Plaza, J.-A. Rico-Gallego and A. Plaza, "Distributed Deep Learning for Remote Sensing Data Interpretation," Proceedings of the IEEE, vol. 109, no. 8, pp. 1320–1349, Aug. 2021, Doi: 10.1109/JPROC.2021.3087874. </a:t>
            </a:r>
          </a:p>
          <a:p>
            <a:pPr lvl="0" algn="just">
              <a:lnSpc>
                <a:spcPts val="2087"/>
              </a:lnSpc>
              <a:spcBef>
                <a:spcPct val="0"/>
              </a:spcBef>
            </a:pPr>
            <a:r>
              <a:rPr lang="en-US" sz="2400" dirty="0">
                <a:solidFill>
                  <a:srgbClr val="343434"/>
                </a:solidFill>
                <a:latin typeface="Glacial Indifference"/>
                <a:ea typeface="Glacial Indifference"/>
                <a:cs typeface="Glacial Indifference"/>
                <a:sym typeface="Glacial Indifference"/>
              </a:rPr>
              <a:t>[13] T. Vogels, S. P. </a:t>
            </a:r>
            <a:r>
              <a:rPr lang="en-US" sz="2400" dirty="0" err="1">
                <a:solidFill>
                  <a:srgbClr val="343434"/>
                </a:solidFill>
                <a:latin typeface="Glacial Indifference"/>
                <a:ea typeface="Glacial Indifference"/>
                <a:cs typeface="Glacial Indifference"/>
                <a:sym typeface="Glacial Indifference"/>
              </a:rPr>
              <a:t>Karimireddy</a:t>
            </a:r>
            <a:r>
              <a:rPr lang="en-US" sz="2400" dirty="0">
                <a:solidFill>
                  <a:srgbClr val="343434"/>
                </a:solidFill>
                <a:latin typeface="Glacial Indifference"/>
                <a:ea typeface="Glacial Indifference"/>
                <a:cs typeface="Glacial Indifference"/>
                <a:sym typeface="Glacial Indifference"/>
              </a:rPr>
              <a:t>, and M. Jaggi, “</a:t>
            </a:r>
            <a:r>
              <a:rPr lang="en-US" sz="2400" dirty="0" err="1">
                <a:solidFill>
                  <a:srgbClr val="343434"/>
                </a:solidFill>
                <a:latin typeface="Glacial Indifference"/>
                <a:ea typeface="Glacial Indifference"/>
                <a:cs typeface="Glacial Indifference"/>
                <a:sym typeface="Glacial Indifference"/>
              </a:rPr>
              <a:t>PowerSGD</a:t>
            </a:r>
            <a:r>
              <a:rPr lang="en-US" sz="2400" dirty="0">
                <a:solidFill>
                  <a:srgbClr val="343434"/>
                </a:solidFill>
                <a:latin typeface="Glacial Indifference"/>
                <a:ea typeface="Glacial Indifference"/>
                <a:cs typeface="Glacial Indifference"/>
                <a:sym typeface="Glacial Indifference"/>
              </a:rPr>
              <a:t>: Practical Low-Rank Gradient Compression for Distributed Optimization,” </a:t>
            </a:r>
            <a:r>
              <a:rPr lang="en-US" sz="2400" dirty="0" err="1">
                <a:solidFill>
                  <a:srgbClr val="343434"/>
                </a:solidFill>
                <a:latin typeface="Glacial Indifference"/>
                <a:ea typeface="Glacial Indifference"/>
                <a:cs typeface="Glacial Indifference"/>
                <a:sym typeface="Glacial Indifference"/>
              </a:rPr>
              <a:t>NeurIPS</a:t>
            </a:r>
            <a:r>
              <a:rPr lang="en-US" sz="2400" dirty="0">
                <a:solidFill>
                  <a:srgbClr val="343434"/>
                </a:solidFill>
                <a:latin typeface="Glacial Indifference"/>
                <a:ea typeface="Glacial Indifference"/>
                <a:cs typeface="Glacial Indifference"/>
                <a:sym typeface="Glacial Indifference"/>
              </a:rPr>
              <a:t>, 2020. </a:t>
            </a:r>
          </a:p>
          <a:p>
            <a:pPr lvl="0" algn="just">
              <a:lnSpc>
                <a:spcPts val="2087"/>
              </a:lnSpc>
              <a:spcBef>
                <a:spcPct val="0"/>
              </a:spcBef>
            </a:pPr>
            <a:r>
              <a:rPr lang="en-US" sz="2400" dirty="0">
                <a:solidFill>
                  <a:srgbClr val="343434"/>
                </a:solidFill>
                <a:latin typeface="Glacial Indifference"/>
                <a:ea typeface="Glacial Indifference"/>
                <a:cs typeface="Glacial Indifference"/>
                <a:sym typeface="Glacial Indifference"/>
              </a:rPr>
              <a:t>[14] Y. Lu, K. Xie, G. Xu, H. Dong, C. Li and T. Li, "MTFC: A Multi-GPU Training Framework for Cube-</a:t>
            </a:r>
            <a:r>
              <a:rPr lang="en-US" sz="2400" dirty="0" err="1">
                <a:solidFill>
                  <a:srgbClr val="343434"/>
                </a:solidFill>
                <a:latin typeface="Glacial Indifference"/>
                <a:ea typeface="Glacial Indifference"/>
                <a:cs typeface="Glacial Indifference"/>
                <a:sym typeface="Glacial Indifference"/>
              </a:rPr>
              <a:t>CNNBased</a:t>
            </a:r>
            <a:r>
              <a:rPr lang="en-US" sz="2400" dirty="0">
                <a:solidFill>
                  <a:srgbClr val="343434"/>
                </a:solidFill>
                <a:latin typeface="Glacial Indifference"/>
                <a:ea typeface="Glacial Indifference"/>
                <a:cs typeface="Glacial Indifference"/>
                <a:sym typeface="Glacial Indifference"/>
              </a:rPr>
              <a:t> Hyperspectral Image Classification," in IEEE Transactions on Emerging Topics in Computing, vol. 9, no. 4, pp. 1738-1752, 1 Oct.-Dec. 2021, Doi: 10.1109/TETC.2020.3016978. </a:t>
            </a:r>
          </a:p>
          <a:p>
            <a:pPr lvl="0" algn="just">
              <a:lnSpc>
                <a:spcPts val="2087"/>
              </a:lnSpc>
              <a:spcBef>
                <a:spcPct val="0"/>
              </a:spcBef>
            </a:pPr>
            <a:r>
              <a:rPr lang="en-US" sz="2400" dirty="0">
                <a:solidFill>
                  <a:srgbClr val="343434"/>
                </a:solidFill>
                <a:latin typeface="Glacial Indifference"/>
                <a:ea typeface="Glacial Indifference"/>
                <a:cs typeface="Glacial Indifference"/>
                <a:sym typeface="Glacial Indifference"/>
              </a:rPr>
              <a:t>[15] H. Xu et al., "GRACE: A Compressed Communication Framework for Distributed Machine Learning," 2021 IEEE 41st International Conference on Distributed Computing Systems (ICDCS), DC, USA, 2021, pp. 561-572, Doi: 10.1109/ICDCS51616.2021.00060. </a:t>
            </a:r>
          </a:p>
        </p:txBody>
      </p:sp>
    </p:spTree>
    <p:extLst>
      <p:ext uri="{BB962C8B-B14F-4D97-AF65-F5344CB8AC3E}">
        <p14:creationId xmlns:p14="http://schemas.microsoft.com/office/powerpoint/2010/main" val="2196118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5" name="TextBox 5"/>
          <p:cNvSpPr txBox="1"/>
          <p:nvPr/>
        </p:nvSpPr>
        <p:spPr>
          <a:xfrm>
            <a:off x="3329558" y="4000500"/>
            <a:ext cx="11766040" cy="1940340"/>
          </a:xfrm>
          <a:prstGeom prst="rect">
            <a:avLst/>
          </a:prstGeom>
        </p:spPr>
        <p:txBody>
          <a:bodyPr lIns="0" tIns="0" rIns="0" bIns="0" rtlCol="0" anchor="t">
            <a:spAutoFit/>
          </a:bodyPr>
          <a:lstStyle/>
          <a:p>
            <a:pPr algn="ctr">
              <a:lnSpc>
                <a:spcPts val="14516"/>
              </a:lnSpc>
            </a:pPr>
            <a:r>
              <a:rPr lang="en-US" sz="14516" dirty="0">
                <a:solidFill>
                  <a:srgbClr val="343434"/>
                </a:solidFill>
                <a:latin typeface="Candal"/>
                <a:ea typeface="Candal"/>
                <a:cs typeface="Candal"/>
                <a:sym typeface="Candal"/>
              </a:rPr>
              <a:t>THANK YOU</a:t>
            </a:r>
          </a:p>
        </p:txBody>
      </p:sp>
      <p:sp>
        <p:nvSpPr>
          <p:cNvPr id="11" name="TextBox 11"/>
          <p:cNvSpPr txBox="1"/>
          <p:nvPr/>
        </p:nvSpPr>
        <p:spPr>
          <a:xfrm>
            <a:off x="6714123" y="5836327"/>
            <a:ext cx="4996911" cy="606179"/>
          </a:xfrm>
          <a:prstGeom prst="rect">
            <a:avLst/>
          </a:prstGeom>
        </p:spPr>
        <p:txBody>
          <a:bodyPr lIns="0" tIns="0" rIns="0" bIns="0" rtlCol="0" anchor="t">
            <a:spAutoFit/>
          </a:bodyPr>
          <a:lstStyle/>
          <a:p>
            <a:pPr algn="ctr">
              <a:lnSpc>
                <a:spcPts val="4913"/>
              </a:lnSpc>
            </a:pPr>
            <a:r>
              <a:rPr lang="en-US" sz="3509">
                <a:solidFill>
                  <a:srgbClr val="343434"/>
                </a:solidFill>
                <a:latin typeface="Glacial Indifference"/>
                <a:ea typeface="Glacial Indifference"/>
                <a:cs typeface="Glacial Indifference"/>
                <a:sym typeface="Glacial Indifference"/>
              </a:rPr>
              <a:t>For your attention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docProps/app.xml><?xml version="1.0" encoding="utf-8"?>
<Properties xmlns="http://schemas.openxmlformats.org/officeDocument/2006/extended-properties" xmlns:vt="http://schemas.openxmlformats.org/officeDocument/2006/docPropsVTypes">
  <Template>Retrospect</Template>
  <TotalTime>370</TotalTime>
  <Words>2113</Words>
  <Application>Microsoft Office PowerPoint</Application>
  <PresentationFormat>Custom</PresentationFormat>
  <Paragraphs>164</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Glacial Indifference</vt:lpstr>
      <vt:lpstr>Garamond</vt:lpstr>
      <vt:lpstr>Candal</vt:lpstr>
      <vt:lpstr>Source Sans Pro SemiBold</vt:lpstr>
      <vt:lpstr>Calibri</vt:lpstr>
      <vt:lpstr>Glacial Indifference Bold</vt:lpstr>
      <vt:lpstr>Arial</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dc:title>
  <cp:lastModifiedBy>KEERTHIVARMAN  S D</cp:lastModifiedBy>
  <cp:revision>6</cp:revision>
  <dcterms:created xsi:type="dcterms:W3CDTF">2006-08-16T00:00:00Z</dcterms:created>
  <dcterms:modified xsi:type="dcterms:W3CDTF">2026-01-26T16:38:05Z</dcterms:modified>
  <dc:identifier>DAG_ZJay5Zg</dc:identifier>
</cp:coreProperties>
</file>